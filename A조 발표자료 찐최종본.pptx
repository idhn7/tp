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8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1" r:id="rId20"/>
    <p:sldId id="282" r:id="rId21"/>
    <p:sldId id="283" r:id="rId22"/>
    <p:sldId id="284" r:id="rId23"/>
    <p:sldId id="285" r:id="rId24"/>
    <p:sldId id="286" r:id="rId25"/>
    <p:sldId id="304" r:id="rId26"/>
    <p:sldId id="302" r:id="rId27"/>
    <p:sldId id="319" r:id="rId28"/>
    <p:sldId id="322" r:id="rId29"/>
    <p:sldId id="308" r:id="rId30"/>
    <p:sldId id="309" r:id="rId31"/>
    <p:sldId id="263" r:id="rId32"/>
    <p:sldId id="292" r:id="rId33"/>
    <p:sldId id="295" r:id="rId34"/>
    <p:sldId id="297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effectLst/>
          </c:spPr>
          <c:explosion val="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DC-458E-97B3-9D00D67619E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DC-458E-97B3-9D00D67619E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DDC-458E-97B3-9D00D67619E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DDC-458E-97B3-9D00D67619E3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DDC-458E-97B3-9D00D67619E3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DC-458E-97B3-9D00D67619E3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DDC-458E-97B3-9D00D67619E3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DDC-458E-97B3-9D00D67619E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맛 점수</c:v>
                </c:pt>
                <c:pt idx="1">
                  <c:v>최근 리뷰</c:v>
                </c:pt>
                <c:pt idx="2">
                  <c:v>편의성</c:v>
                </c:pt>
                <c:pt idx="3">
                  <c:v>계절 적합성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DDC-458E-97B3-9D00D67619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587B800-686A-4F0B-97F0-2D37483770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10A4D8-38A4-4E57-9BE5-192A8EE19D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465C4-2A7C-4877-9623-F4E753304390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28C176-80E5-425B-9EA1-4ADBC07A00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ADEDFC-6E68-432F-894D-3AB95A902C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3E44A-311D-44D2-B2B9-ACA35ADE15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80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541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647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124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638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846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bizno.ne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58723"/>
            <a:ext cx="12191695" cy="6858000"/>
          </a:xfrm>
          <a:prstGeom prst="rect">
            <a:avLst/>
          </a:prstGeom>
          <a:solidFill>
            <a:srgbClr val="F5F9FD"/>
          </a:solidFill>
          <a:ln w="12700">
            <a:solidFill>
              <a:srgbClr val="F5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182880" cy="3474720"/>
          </a:xfrm>
          <a:prstGeom prst="rect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37160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</a:rPr>
              <a:t>리뷰 데이터 기반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</a:rPr>
              <a:t>전주 계절별 맛집 추천 서비스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</a:rPr>
              <a:t>K-Digital 과정 팀 프로젝트 발표자료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85538" y="1463040"/>
            <a:ext cx="395302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16230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</a:rPr>
              <a:t>발표 정보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50327" y="1943100"/>
            <a:ext cx="3490113" cy="2144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팀명: A</a:t>
            </a:r>
            <a:r>
              <a:rPr lang="ko-KR" altLang="en-US" sz="1600" b="1" dirty="0">
                <a:solidFill>
                  <a:srgbClr val="1F2937"/>
                </a:solidFill>
              </a:rPr>
              <a:t>팀</a:t>
            </a:r>
            <a:endParaRPr lang="en-US" altLang="ko-KR" sz="1600" b="1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
</a:t>
            </a:r>
            <a:r>
              <a:rPr lang="en-US" sz="1600" b="1" dirty="0">
                <a:solidFill>
                  <a:srgbClr val="1F2937"/>
                </a:solidFill>
              </a:rPr>
              <a:t>팀원: </a:t>
            </a:r>
            <a:r>
              <a:rPr lang="ko-KR" altLang="en-US" sz="1600" b="1" dirty="0">
                <a:solidFill>
                  <a:srgbClr val="1F2937"/>
                </a:solidFill>
              </a:rPr>
              <a:t>이승현</a:t>
            </a:r>
            <a:r>
              <a:rPr lang="en-US" altLang="ko-KR" sz="1600" b="1" dirty="0">
                <a:solidFill>
                  <a:srgbClr val="1F2937"/>
                </a:solidFill>
              </a:rPr>
              <a:t>(</a:t>
            </a:r>
            <a:r>
              <a:rPr lang="ko-KR" altLang="en-US" sz="1600" b="1" dirty="0">
                <a:solidFill>
                  <a:srgbClr val="1F2937"/>
                </a:solidFill>
              </a:rPr>
              <a:t>팀장</a:t>
            </a:r>
            <a:r>
              <a:rPr lang="en-US" altLang="ko-KR" sz="1600" b="1" dirty="0">
                <a:solidFill>
                  <a:srgbClr val="1F2937"/>
                </a:solidFill>
              </a:rPr>
              <a:t>), </a:t>
            </a:r>
            <a:r>
              <a:rPr lang="ko-KR" altLang="en-US" sz="1600" b="1" dirty="0">
                <a:solidFill>
                  <a:srgbClr val="1F2937"/>
                </a:solidFill>
              </a:rPr>
              <a:t>송민석</a:t>
            </a:r>
            <a:r>
              <a:rPr lang="en-US" altLang="ko-KR" sz="1600" b="1" dirty="0">
                <a:solidFill>
                  <a:srgbClr val="1F2937"/>
                </a:solidFill>
              </a:rPr>
              <a:t>(</a:t>
            </a:r>
            <a:r>
              <a:rPr lang="ko-KR" altLang="en-US" sz="1600" b="1" dirty="0" err="1">
                <a:solidFill>
                  <a:srgbClr val="1F2937"/>
                </a:solidFill>
              </a:rPr>
              <a:t>부팀장</a:t>
            </a:r>
            <a:r>
              <a:rPr lang="en-US" altLang="ko-KR" sz="1600" b="1" dirty="0">
                <a:solidFill>
                  <a:srgbClr val="1F2937"/>
                </a:solidFill>
              </a:rPr>
              <a:t>), </a:t>
            </a:r>
          </a:p>
          <a:p>
            <a:pPr marL="0" indent="0">
              <a:buNone/>
            </a:pPr>
            <a:r>
              <a:rPr lang="ko-KR" altLang="en-US" sz="1600" b="1" dirty="0" err="1">
                <a:solidFill>
                  <a:srgbClr val="1F2937"/>
                </a:solidFill>
              </a:rPr>
              <a:t>손민건</a:t>
            </a:r>
            <a:r>
              <a:rPr lang="en-US" altLang="ko-KR" sz="1600" b="1" dirty="0">
                <a:solidFill>
                  <a:srgbClr val="1F2937"/>
                </a:solidFill>
              </a:rPr>
              <a:t>, </a:t>
            </a:r>
            <a:r>
              <a:rPr lang="ko-KR" altLang="en-US" sz="1600" b="1" dirty="0">
                <a:solidFill>
                  <a:srgbClr val="1F2937"/>
                </a:solidFill>
              </a:rPr>
              <a:t>조태현</a:t>
            </a:r>
            <a:r>
              <a:rPr lang="en-US" altLang="ko-KR" sz="1600" b="1" dirty="0">
                <a:solidFill>
                  <a:srgbClr val="1F2937"/>
                </a:solidFill>
              </a:rPr>
              <a:t>, </a:t>
            </a:r>
            <a:r>
              <a:rPr lang="ko-KR" altLang="en-US" sz="1600" b="1" dirty="0" err="1">
                <a:solidFill>
                  <a:srgbClr val="1F2937"/>
                </a:solidFill>
              </a:rPr>
              <a:t>표가민</a:t>
            </a:r>
            <a:r>
              <a:rPr lang="en-US" altLang="ko-KR" sz="1600" b="1" dirty="0">
                <a:solidFill>
                  <a:srgbClr val="1F2937"/>
                </a:solidFill>
              </a:rPr>
              <a:t>, </a:t>
            </a:r>
            <a:r>
              <a:rPr lang="ko-KR" altLang="en-US" sz="1600" b="1" dirty="0" err="1">
                <a:solidFill>
                  <a:srgbClr val="1F2937"/>
                </a:solidFill>
              </a:rPr>
              <a:t>신선양</a:t>
            </a:r>
            <a:r>
              <a:rPr lang="en-US" sz="1600" dirty="0">
                <a:solidFill>
                  <a:srgbClr val="1F2937"/>
                </a:solidFill>
              </a:rPr>
              <a:t>
</a:t>
            </a:r>
          </a:p>
          <a:p>
            <a:pPr marL="0" indent="0">
              <a:buNone/>
            </a:pPr>
            <a:r>
              <a:rPr lang="en-US" sz="1600" b="1" dirty="0" err="1">
                <a:solidFill>
                  <a:srgbClr val="1F2937"/>
                </a:solidFill>
              </a:rPr>
              <a:t>발표일</a:t>
            </a:r>
            <a:r>
              <a:rPr lang="en-US" sz="1600" b="1" dirty="0">
                <a:solidFill>
                  <a:srgbClr val="1F2937"/>
                </a:solidFill>
              </a:rPr>
              <a:t>: </a:t>
            </a:r>
          </a:p>
          <a:p>
            <a:pPr marL="0" indent="0">
              <a:buNone/>
            </a:pPr>
            <a:r>
              <a:rPr lang="ko-KR" altLang="en-US" sz="1600" b="1" dirty="0">
                <a:solidFill>
                  <a:srgbClr val="1F2937"/>
                </a:solidFill>
              </a:rPr>
              <a:t>중간발표</a:t>
            </a:r>
            <a:r>
              <a:rPr lang="en-US" altLang="ko-KR" sz="1600" b="1" dirty="0">
                <a:solidFill>
                  <a:srgbClr val="1F2937"/>
                </a:solidFill>
              </a:rPr>
              <a:t>: 5</a:t>
            </a:r>
            <a:r>
              <a:rPr lang="ko-KR" altLang="en-US" sz="1600" b="1" dirty="0">
                <a:solidFill>
                  <a:srgbClr val="1F2937"/>
                </a:solidFill>
              </a:rPr>
              <a:t>월 </a:t>
            </a:r>
            <a:r>
              <a:rPr lang="en-US" altLang="ko-KR" sz="1600" b="1" dirty="0">
                <a:solidFill>
                  <a:srgbClr val="1F2937"/>
                </a:solidFill>
              </a:rPr>
              <a:t>15</a:t>
            </a:r>
            <a:r>
              <a:rPr lang="ko-KR" altLang="en-US" sz="1600" b="1" dirty="0">
                <a:solidFill>
                  <a:srgbClr val="1F2937"/>
                </a:solidFill>
              </a:rPr>
              <a:t>일</a:t>
            </a:r>
            <a:endParaRPr lang="en-US" altLang="ko-KR" sz="1600" b="1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ko-KR" altLang="en-US" sz="1600" b="1" dirty="0">
                <a:solidFill>
                  <a:srgbClr val="1F2937"/>
                </a:solidFill>
              </a:rPr>
              <a:t>기말발표</a:t>
            </a:r>
            <a:r>
              <a:rPr lang="en-US" altLang="ko-KR" sz="1600" b="1" dirty="0">
                <a:solidFill>
                  <a:srgbClr val="1F2937"/>
                </a:solidFill>
              </a:rPr>
              <a:t>: 5</a:t>
            </a:r>
            <a:r>
              <a:rPr lang="ko-KR" altLang="en-US" sz="1600" b="1" dirty="0">
                <a:solidFill>
                  <a:srgbClr val="1F2937"/>
                </a:solidFill>
              </a:rPr>
              <a:t>월 </a:t>
            </a:r>
            <a:r>
              <a:rPr lang="en-US" altLang="ko-KR" sz="1600" b="1" dirty="0">
                <a:solidFill>
                  <a:srgbClr val="1F2937"/>
                </a:solidFill>
              </a:rPr>
              <a:t>27</a:t>
            </a:r>
            <a:r>
              <a:rPr lang="ko-KR" altLang="en-US" sz="1600" b="1" dirty="0">
                <a:solidFill>
                  <a:srgbClr val="1F2937"/>
                </a:solidFill>
              </a:rPr>
              <a:t>일</a:t>
            </a:r>
            <a:endParaRPr lang="en-US" sz="16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DF1F6CF-B361-487C-870D-F1334DBF0E28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/35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구성 한눈에 보기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80160"/>
            <a:ext cx="10652760" cy="4297680"/>
          </a:xfrm>
          <a:prstGeom prst="roundRect">
            <a:avLst>
              <a:gd name="adj" fmla="val 1064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9019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B2"/>
                </a:solidFill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2176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프로젝트 개요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9019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B2"/>
                </a:solidFill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36592" y="2176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요구사항 도출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9019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B2"/>
                </a:solidFill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11312" y="2176272"/>
            <a:ext cx="23863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데이터 수집/전처리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97280" y="347472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36393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B2"/>
                </a:solidFill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61872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점수화 로직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36393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B2"/>
                </a:solidFill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36592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서비스 구현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046720" y="3474720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1312" y="36393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B2"/>
                </a:solidFill>
              </a:rPr>
              <a:t>06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11312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결과/한계</a:t>
            </a:r>
            <a:endParaRPr lang="en-US" sz="19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36084C0B-9A64-41C6-A7B7-CE3B378D7536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2/35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 및 역할 분담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347472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499616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구분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9976" y="1499616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주요 역할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1417320"/>
            <a:ext cx="347472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54696" y="1499616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비고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1856232"/>
            <a:ext cx="3474720" cy="1097280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896112" y="2132166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F2937"/>
                </a:solidFill>
              </a:rPr>
              <a:t>데이터 수집</a:t>
            </a:r>
            <a:r>
              <a:rPr lang="en-US" altLang="ko-KR" sz="1250" dirty="0">
                <a:solidFill>
                  <a:srgbClr val="1F2937"/>
                </a:solidFill>
              </a:rPr>
              <a:t>/ </a:t>
            </a:r>
            <a:r>
              <a:rPr lang="ko-KR" altLang="en-US" sz="1250" dirty="0" err="1">
                <a:solidFill>
                  <a:srgbClr val="1F2937"/>
                </a:solidFill>
              </a:rPr>
              <a:t>전처리</a:t>
            </a:r>
            <a:r>
              <a:rPr lang="en-US" altLang="ko-KR" sz="1250" dirty="0">
                <a:solidFill>
                  <a:srgbClr val="1F2937"/>
                </a:solidFill>
              </a:rPr>
              <a:t>/ </a:t>
            </a:r>
            <a:r>
              <a:rPr lang="ko-KR" altLang="en-US" sz="1250" dirty="0">
                <a:solidFill>
                  <a:srgbClr val="1F2937"/>
                </a:solidFill>
              </a:rPr>
              <a:t>데이터베이스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43400" y="1839558"/>
            <a:ext cx="3474720" cy="1113954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4370832" y="2074074"/>
            <a:ext cx="33467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F2937"/>
                </a:solidFill>
              </a:rPr>
              <a:t>데이터 수집</a:t>
            </a:r>
            <a:r>
              <a:rPr lang="en-US" altLang="ko-KR" sz="1250" dirty="0">
                <a:solidFill>
                  <a:srgbClr val="1F2937"/>
                </a:solidFill>
              </a:rPr>
              <a:t>, </a:t>
            </a:r>
            <a:r>
              <a:rPr lang="ko-KR" altLang="en-US" sz="1250" dirty="0" err="1">
                <a:solidFill>
                  <a:srgbClr val="1F2937"/>
                </a:solidFill>
              </a:rPr>
              <a:t>크롤링</a:t>
            </a:r>
            <a:r>
              <a:rPr lang="en-US" altLang="ko-KR" sz="1250" dirty="0">
                <a:solidFill>
                  <a:srgbClr val="1F2937"/>
                </a:solidFill>
              </a:rPr>
              <a:t>, </a:t>
            </a:r>
            <a:r>
              <a:rPr lang="ko-KR" altLang="en-US" sz="1250" dirty="0" err="1">
                <a:solidFill>
                  <a:srgbClr val="1F2937"/>
                </a:solidFill>
              </a:rPr>
              <a:t>전처리</a:t>
            </a:r>
            <a:r>
              <a:rPr lang="en-US" altLang="ko-KR" sz="1250" dirty="0">
                <a:solidFill>
                  <a:srgbClr val="1F2937"/>
                </a:solidFill>
              </a:rPr>
              <a:t>, DB</a:t>
            </a:r>
            <a:r>
              <a:rPr lang="ko-KR" altLang="en-US" sz="1250" dirty="0">
                <a:solidFill>
                  <a:srgbClr val="1F2937"/>
                </a:solidFill>
              </a:rPr>
              <a:t>저장</a:t>
            </a:r>
            <a:r>
              <a:rPr lang="en-US" altLang="ko-KR" sz="1250" dirty="0">
                <a:solidFill>
                  <a:srgbClr val="1F2937"/>
                </a:solidFill>
              </a:rPr>
              <a:t>, </a:t>
            </a:r>
            <a:r>
              <a:rPr lang="ko-KR" altLang="en-US" sz="1250" dirty="0">
                <a:solidFill>
                  <a:srgbClr val="1F2937"/>
                </a:solidFill>
              </a:rPr>
              <a:t>테이블구조 정리</a:t>
            </a:r>
            <a:r>
              <a:rPr lang="en-US" altLang="ko-KR" sz="1250" dirty="0">
                <a:solidFill>
                  <a:srgbClr val="1F2937"/>
                </a:solidFill>
              </a:rPr>
              <a:t>, </a:t>
            </a:r>
            <a:r>
              <a:rPr lang="ko-KR" altLang="en-US" sz="1250" dirty="0">
                <a:solidFill>
                  <a:srgbClr val="1F2937"/>
                </a:solidFill>
              </a:rPr>
              <a:t>데이터 품질 확인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18120" y="1856232"/>
            <a:ext cx="3474720" cy="1097280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7882128" y="1929384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68680" y="2958891"/>
            <a:ext cx="3474720" cy="1097280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30517" y="2971799"/>
            <a:ext cx="3474720" cy="1084371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05237" y="2951895"/>
            <a:ext cx="3474720" cy="1113953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4055631"/>
            <a:ext cx="3474720" cy="1127137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89" y="4460116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문서 담당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357116" y="4043263"/>
            <a:ext cx="3474720" cy="1151874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7408" y="4462272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PPT, </a:t>
            </a:r>
            <a:r>
              <a:rPr lang="en-US" sz="1250" dirty="0" err="1">
                <a:solidFill>
                  <a:srgbClr val="1F2937"/>
                </a:solidFill>
              </a:rPr>
              <a:t>대본</a:t>
            </a:r>
            <a:r>
              <a:rPr lang="en-US" sz="1250" dirty="0">
                <a:solidFill>
                  <a:srgbClr val="1F2937"/>
                </a:solidFill>
              </a:rPr>
              <a:t> 정리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811679" y="4046352"/>
            <a:ext cx="3474720" cy="1147440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Text 39"/>
          <p:cNvSpPr/>
          <p:nvPr/>
        </p:nvSpPr>
        <p:spPr>
          <a:xfrm>
            <a:off x="7946136" y="4432146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F2937"/>
                </a:solidFill>
              </a:rPr>
              <a:t>공동</a:t>
            </a:r>
            <a:endParaRPr lang="en-US" altLang="ko-KR" sz="1250" dirty="0">
              <a:solidFill>
                <a:srgbClr val="1F2937"/>
              </a:solidFill>
            </a:endParaRPr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7DA9D057-BF2D-46F0-B98A-7FE64A0E4991}"/>
              </a:ext>
            </a:extLst>
          </p:cNvPr>
          <p:cNvSpPr/>
          <p:nvPr/>
        </p:nvSpPr>
        <p:spPr>
          <a:xfrm>
            <a:off x="7856323" y="2076295"/>
            <a:ext cx="3346704" cy="635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dirty="0"/>
              <a:t>공동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344233" y="3054899"/>
            <a:ext cx="3346704" cy="894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F2937"/>
                </a:solidFill>
              </a:rPr>
              <a:t>각 시스템 구현</a:t>
            </a:r>
            <a:r>
              <a:rPr lang="en-US" altLang="ko-KR" sz="1250" dirty="0">
                <a:solidFill>
                  <a:srgbClr val="1F2937"/>
                </a:solidFill>
              </a:rPr>
              <a:t>, </a:t>
            </a:r>
            <a:r>
              <a:rPr lang="ko-KR" altLang="en-US" sz="1250" dirty="0">
                <a:solidFill>
                  <a:srgbClr val="1F2937"/>
                </a:solidFill>
              </a:rPr>
              <a:t>데이터 핸들링 로직 구현</a:t>
            </a:r>
            <a:r>
              <a:rPr lang="en-US" altLang="ko-KR" sz="1250" dirty="0">
                <a:solidFill>
                  <a:srgbClr val="1F2937"/>
                </a:solidFill>
              </a:rPr>
              <a:t>, </a:t>
            </a:r>
            <a:r>
              <a:rPr lang="ko-KR" altLang="en-US" sz="1250" dirty="0">
                <a:solidFill>
                  <a:srgbClr val="1F2937"/>
                </a:solidFill>
              </a:rPr>
              <a:t>화면 구성</a:t>
            </a:r>
            <a:r>
              <a:rPr lang="en-US" altLang="ko-KR" sz="1250" dirty="0">
                <a:solidFill>
                  <a:srgbClr val="1F2937"/>
                </a:solidFill>
              </a:rPr>
              <a:t>, </a:t>
            </a:r>
            <a:r>
              <a:rPr lang="ko-KR" altLang="en-US" sz="1250" dirty="0">
                <a:solidFill>
                  <a:srgbClr val="1F2937"/>
                </a:solidFill>
              </a:rPr>
              <a:t>기능 연결</a:t>
            </a:r>
            <a:r>
              <a:rPr lang="en-US" altLang="ko-KR" sz="1250" dirty="0">
                <a:solidFill>
                  <a:srgbClr val="1F2937"/>
                </a:solidFill>
              </a:rPr>
              <a:t>, </a:t>
            </a:r>
            <a:r>
              <a:rPr lang="ko-KR" altLang="en-US" sz="1250" dirty="0">
                <a:solidFill>
                  <a:srgbClr val="1F2937"/>
                </a:solidFill>
              </a:rPr>
              <a:t>샘플 데이터 기반 기능 테스트</a:t>
            </a:r>
            <a:endParaRPr lang="en-US" altLang="ko-KR" sz="1250" dirty="0"/>
          </a:p>
        </p:txBody>
      </p:sp>
      <p:sp>
        <p:nvSpPr>
          <p:cNvPr id="25" name="Text 23"/>
          <p:cNvSpPr/>
          <p:nvPr/>
        </p:nvSpPr>
        <p:spPr>
          <a:xfrm>
            <a:off x="896112" y="3288341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F2937"/>
                </a:solidFill>
              </a:rPr>
              <a:t>구현 및 샘플링</a:t>
            </a:r>
            <a:endParaRPr lang="en-US" alt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7909560" y="3194076"/>
            <a:ext cx="3346704" cy="616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dirty="0"/>
              <a:t>공동</a:t>
            </a:r>
            <a:endParaRPr lang="en-US" altLang="ko-KR" sz="12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AAC88567-4CF9-4880-91A3-3D623894DE92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3/35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 w="12700">
            <a:solidFill>
              <a:srgbClr val="F5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</a:rPr>
              <a:t>프로젝트 개요</a:t>
            </a:r>
            <a:endParaRPr lang="en-US" sz="28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FF007916-4D25-4360-B04F-73CCE3B374E3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4/35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303520" cy="3693496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143000"/>
            <a:ext cx="5303520" cy="3693496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기존 서비스 한계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73952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프로젝트 방향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9536" y="1668904"/>
            <a:ext cx="4864608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750" dirty="0"/>
              <a:t>최근에 주목받는 맛집이나 최신 반응을 충분히 반영하지 못함</a:t>
            </a:r>
            <a:endParaRPr lang="en-US" altLang="ko-KR" sz="1750" dirty="0"/>
          </a:p>
          <a:p>
            <a:pPr marL="177800" indent="-177800">
              <a:buSzPct val="100000"/>
              <a:buChar char="•"/>
            </a:pP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ko-KR" altLang="en-US" sz="1750" dirty="0"/>
              <a:t>계절</a:t>
            </a:r>
            <a:r>
              <a:rPr lang="en-US" altLang="ko-KR" sz="1750" dirty="0"/>
              <a:t>, </a:t>
            </a:r>
            <a:r>
              <a:rPr lang="ko-KR" altLang="en-US" sz="1750" dirty="0"/>
              <a:t>시기별 소비 변화나 메뉴 선호 차이를 반영하지 못해</a:t>
            </a:r>
            <a:r>
              <a:rPr lang="en-US" altLang="ko-KR" sz="1750" dirty="0"/>
              <a:t>, </a:t>
            </a:r>
            <a:r>
              <a:rPr lang="ko-KR" altLang="en-US" sz="1750" dirty="0"/>
              <a:t>시점에 따른 맛집 트렌드 제공이 부족함</a:t>
            </a:r>
            <a:endParaRPr lang="en-US" altLang="ko-KR" sz="1750" dirty="0"/>
          </a:p>
          <a:p>
            <a:pPr marL="177800" indent="-177800">
              <a:buSzPct val="100000"/>
              <a:buChar char="•"/>
            </a:pPr>
            <a:endParaRPr lang="en-US" altLang="ko-KR" sz="1750" dirty="0"/>
          </a:p>
          <a:p>
            <a:pPr marL="177800" indent="-177800">
              <a:buSzPct val="100000"/>
              <a:buChar char="•"/>
            </a:pPr>
            <a:r>
              <a:rPr lang="ko-KR" altLang="en-US" sz="1750" dirty="0"/>
              <a:t>사용자 취향에 따른 맞춤형 추천이 부족함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446520" y="1424443"/>
            <a:ext cx="4864608" cy="313060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>
              <a:buSzPct val="100000"/>
            </a:pP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ko-KR" altLang="en-US" sz="1750" dirty="0"/>
              <a:t>최근성 반영</a:t>
            </a:r>
            <a:r>
              <a:rPr lang="en-US" altLang="ko-KR" sz="1750" dirty="0"/>
              <a:t>: </a:t>
            </a:r>
            <a:r>
              <a:rPr lang="ko-KR" altLang="en-US" sz="1750" dirty="0"/>
              <a:t>최근 리뷰 증가 및 최신 반응 분석</a:t>
            </a:r>
            <a:endParaRPr lang="en-US" altLang="ko-KR" sz="1750" dirty="0"/>
          </a:p>
          <a:p>
            <a:pPr marL="177800" indent="-177800">
              <a:buSzPct val="100000"/>
              <a:buChar char="•"/>
            </a:pP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ko-KR" altLang="en-US" sz="1750" dirty="0"/>
              <a:t>계절성 반영</a:t>
            </a:r>
            <a:r>
              <a:rPr lang="en-US" altLang="ko-KR" sz="1750" dirty="0"/>
              <a:t>: </a:t>
            </a:r>
            <a:r>
              <a:rPr lang="ko-KR" altLang="en-US" sz="1750" dirty="0"/>
              <a:t>계절별 선호 메뉴 및 음식 트렌드 분석</a:t>
            </a:r>
            <a:endParaRPr lang="en-US" altLang="ko-KR" sz="1750" dirty="0"/>
          </a:p>
          <a:p>
            <a:pPr>
              <a:buSzPct val="100000"/>
            </a:pP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ko-KR" altLang="en-US" sz="1750" dirty="0"/>
              <a:t>사용자 맞춤형 추천</a:t>
            </a:r>
            <a:r>
              <a:rPr lang="en-US" altLang="ko-KR" sz="1750" dirty="0"/>
              <a:t>: </a:t>
            </a:r>
            <a:r>
              <a:rPr lang="ko-KR" altLang="en-US" sz="1750" dirty="0"/>
              <a:t>취향과 상황에 맞는 맛집 지원</a:t>
            </a:r>
            <a:endParaRPr lang="en-US" sz="175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37555067-6A4F-4B21-B19A-98FFD66BBB93}"/>
              </a:ext>
            </a:extLst>
          </p:cNvPr>
          <p:cNvSpPr/>
          <p:nvPr/>
        </p:nvSpPr>
        <p:spPr>
          <a:xfrm>
            <a:off x="411480" y="5260571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A79AF7-9E69-494A-A28D-35F0383405FD}"/>
              </a:ext>
            </a:extLst>
          </p:cNvPr>
          <p:cNvSpPr txBox="1"/>
          <p:nvPr/>
        </p:nvSpPr>
        <p:spPr>
          <a:xfrm>
            <a:off x="411480" y="5299738"/>
            <a:ext cx="117251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buSzPct val="100000"/>
              <a:buChar char="•"/>
            </a:pPr>
            <a:r>
              <a:rPr lang="en-US" altLang="ko-KR" sz="1800" dirty="0" err="1">
                <a:solidFill>
                  <a:srgbClr val="1F2937"/>
                </a:solidFill>
              </a:rPr>
              <a:t>단순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리뷰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수가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많다고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해서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현재도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좋은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맛집이라고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보기는</a:t>
            </a:r>
            <a:r>
              <a:rPr lang="en-US" altLang="ko-KR" sz="1800" dirty="0">
                <a:solidFill>
                  <a:srgbClr val="1F2937"/>
                </a:solidFill>
              </a:rPr>
              <a:t> 어</a:t>
            </a:r>
            <a:r>
              <a:rPr lang="ko-KR" altLang="en-US" sz="1800" dirty="0" err="1">
                <a:solidFill>
                  <a:srgbClr val="1F2937"/>
                </a:solidFill>
              </a:rPr>
              <a:t>려웠다</a:t>
            </a:r>
            <a:r>
              <a:rPr lang="en-US" altLang="ko-KR" sz="1800" dirty="0">
                <a:solidFill>
                  <a:srgbClr val="1F2937"/>
                </a:solidFill>
              </a:rPr>
              <a:t>.</a:t>
            </a:r>
            <a:endParaRPr lang="en-US" altLang="ko-KR" sz="1800" dirty="0"/>
          </a:p>
          <a:p>
            <a:pPr marL="177800" indent="-177800">
              <a:buSzPct val="100000"/>
              <a:buChar char="•"/>
            </a:pPr>
            <a:r>
              <a:rPr lang="en-US" altLang="ko-KR" sz="1800" dirty="0" err="1">
                <a:solidFill>
                  <a:srgbClr val="1F2937"/>
                </a:solidFill>
              </a:rPr>
              <a:t>네이버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최근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리뷰에는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별점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정보가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부족해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대체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평가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기준이</a:t>
            </a:r>
            <a:r>
              <a:rPr lang="en-US" altLang="ko-KR" sz="1800" dirty="0">
                <a:solidFill>
                  <a:srgbClr val="1F2937"/>
                </a:solidFill>
              </a:rPr>
              <a:t> 필</a:t>
            </a:r>
            <a:r>
              <a:rPr lang="ko-KR" altLang="en-US" sz="1800" dirty="0">
                <a:solidFill>
                  <a:srgbClr val="1F2937"/>
                </a:solidFill>
              </a:rPr>
              <a:t>요했다</a:t>
            </a:r>
            <a:r>
              <a:rPr lang="en-US" altLang="ko-KR" sz="1800" dirty="0">
                <a:solidFill>
                  <a:srgbClr val="1F2937"/>
                </a:solidFill>
              </a:rPr>
              <a:t>.</a:t>
            </a:r>
            <a:endParaRPr lang="en-US" altLang="ko-KR" sz="1800" dirty="0"/>
          </a:p>
          <a:p>
            <a:pPr marL="177800" indent="-177800">
              <a:buSzPct val="100000"/>
              <a:buChar char="•"/>
            </a:pPr>
            <a:r>
              <a:rPr lang="ko-KR" altLang="en-US" i="0" dirty="0">
                <a:solidFill>
                  <a:srgbClr val="1C1C1E"/>
                </a:solidFill>
                <a:effectLst/>
                <a:latin typeface="Pretendard Variable"/>
              </a:rPr>
              <a:t>기존 서비스는 최근성</a:t>
            </a:r>
            <a:r>
              <a:rPr lang="en-US" altLang="ko-KR" i="0" dirty="0">
                <a:solidFill>
                  <a:srgbClr val="1C1C1E"/>
                </a:solidFill>
                <a:effectLst/>
                <a:latin typeface="Pretendard Variable"/>
              </a:rPr>
              <a:t>·</a:t>
            </a:r>
            <a:r>
              <a:rPr lang="ko-KR" altLang="en-US" i="0" dirty="0">
                <a:solidFill>
                  <a:srgbClr val="1C1C1E"/>
                </a:solidFill>
                <a:effectLst/>
                <a:latin typeface="Pretendard Variable"/>
              </a:rPr>
              <a:t>계절성을 반영하지 못해 현재 시점에 적합한 맛집 탐색에 한계가 있었다</a:t>
            </a:r>
            <a:r>
              <a:rPr lang="en-US" altLang="ko-KR" i="0" dirty="0">
                <a:solidFill>
                  <a:srgbClr val="1C1C1E"/>
                </a:solidFill>
                <a:effectLst/>
                <a:latin typeface="Pretendard Variable"/>
              </a:rPr>
              <a:t>.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altLang="ko-KR" sz="1800" dirty="0" err="1">
                <a:solidFill>
                  <a:srgbClr val="1F2937"/>
                </a:solidFill>
              </a:rPr>
              <a:t>따라서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여러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요소를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결합한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복합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평가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기준이</a:t>
            </a:r>
            <a:r>
              <a:rPr lang="en-US" altLang="ko-KR" sz="1800" dirty="0">
                <a:solidFill>
                  <a:srgbClr val="1F2937"/>
                </a:solidFill>
              </a:rPr>
              <a:t> </a:t>
            </a:r>
            <a:r>
              <a:rPr lang="en-US" altLang="ko-KR" sz="1800" dirty="0" err="1">
                <a:solidFill>
                  <a:srgbClr val="1F2937"/>
                </a:solidFill>
              </a:rPr>
              <a:t>필요하다</a:t>
            </a:r>
            <a:r>
              <a:rPr lang="en-US" altLang="ko-KR" sz="1800" dirty="0">
                <a:solidFill>
                  <a:srgbClr val="1F2937"/>
                </a:solidFill>
              </a:rPr>
              <a:t>.</a:t>
            </a:r>
            <a:endParaRPr lang="en-US" altLang="ko-KR" sz="18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8B5E17F-158F-4CD7-BE48-E251E9D80BC4}"/>
              </a:ext>
            </a:extLst>
          </p:cNvPr>
          <p:cNvSpPr/>
          <p:nvPr/>
        </p:nvSpPr>
        <p:spPr>
          <a:xfrm>
            <a:off x="594360" y="4956049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63A5F"/>
                </a:solidFill>
              </a:rPr>
              <a:t>문제 정의</a:t>
            </a:r>
            <a:endParaRPr lang="en-US" sz="19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AE1AF55-3DDB-40C4-9A44-299F4856A009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5/35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7DB0D58-7C1C-48D5-9771-7127B177938A}"/>
              </a:ext>
            </a:extLst>
          </p:cNvPr>
          <p:cNvGrpSpPr/>
          <p:nvPr/>
        </p:nvGrpSpPr>
        <p:grpSpPr>
          <a:xfrm>
            <a:off x="746607" y="2926080"/>
            <a:ext cx="10698480" cy="914400"/>
            <a:chOff x="685800" y="2377440"/>
            <a:chExt cx="10698480" cy="914400"/>
          </a:xfrm>
        </p:grpSpPr>
        <p:sp>
          <p:nvSpPr>
            <p:cNvPr id="6" name="Shape 4"/>
            <p:cNvSpPr/>
            <p:nvPr/>
          </p:nvSpPr>
          <p:spPr>
            <a:xfrm>
              <a:off x="68580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79552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데이터 수집</a:t>
              </a:r>
              <a:endParaRPr lang="en-US" sz="17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49631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292608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F4F8FC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3580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리뷰 분석</a:t>
              </a:r>
              <a:endParaRPr lang="en-US" sz="17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3659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516636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27608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점수 계산</a:t>
              </a:r>
              <a:endParaRPr lang="en-US" sz="17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97687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740664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F4F8FC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51636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목록 제공</a:t>
              </a:r>
              <a:endParaRPr lang="en-US" sz="17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921715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964692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975664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상세 정보</a:t>
              </a:r>
              <a:endParaRPr lang="en-US" sz="1700" dirty="0"/>
            </a:p>
          </p:txBody>
        </p:sp>
      </p:grpSp>
      <p:sp>
        <p:nvSpPr>
          <p:cNvPr id="24" name="Text 10">
            <a:extLst>
              <a:ext uri="{FF2B5EF4-FFF2-40B4-BE49-F238E27FC236}">
                <a16:creationId xmlns:a16="http://schemas.microsoft.com/office/drawing/2014/main" id="{C607F008-0F8C-4212-B97F-DC01A4358842}"/>
              </a:ext>
            </a:extLst>
          </p:cNvPr>
          <p:cNvSpPr/>
          <p:nvPr/>
        </p:nvSpPr>
        <p:spPr>
          <a:xfrm>
            <a:off x="11384279" y="6409189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6/35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 w="12700">
            <a:solidFill>
              <a:srgbClr val="F5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</a:rPr>
              <a:t>요구사항 도출</a:t>
            </a:r>
            <a:endParaRPr lang="en-US" sz="28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940285F6-2367-40AD-9BAF-D6717DD9DCAB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8/35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도출 방식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008" y="966267"/>
            <a:ext cx="9915194" cy="1734715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900" dirty="0"/>
              <a:t>요구사항은 팀 회의를 통해 도출하였으며</a:t>
            </a:r>
            <a:r>
              <a:rPr lang="en-US" altLang="ko-KR" sz="1900" dirty="0"/>
              <a:t>, </a:t>
            </a:r>
            <a:r>
              <a:rPr lang="ko-KR" altLang="en-US" sz="1900" dirty="0"/>
              <a:t>프로젝트 주제 적합성</a:t>
            </a:r>
            <a:r>
              <a:rPr lang="en-US" altLang="ko-KR" sz="1900" dirty="0"/>
              <a:t>, </a:t>
            </a:r>
            <a:r>
              <a:rPr lang="ko-KR" altLang="en-US" sz="1900" dirty="0"/>
              <a:t>데이터 활용 가능성</a:t>
            </a:r>
            <a:r>
              <a:rPr lang="en-US" altLang="ko-KR" sz="1900" dirty="0"/>
              <a:t>, </a:t>
            </a:r>
            <a:r>
              <a:rPr lang="ko-KR" altLang="en-US" sz="1900" dirty="0"/>
              <a:t>구현 가능성을 기준으로 검토하였다</a:t>
            </a:r>
            <a:r>
              <a:rPr lang="en-US" altLang="ko-KR" sz="1900" dirty="0"/>
              <a:t>.</a:t>
            </a:r>
          </a:p>
          <a:p>
            <a:pPr marL="177800" indent="-177800">
              <a:buSzPct val="100000"/>
              <a:buChar char="•"/>
            </a:pP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ko-KR" altLang="en-US" sz="1900" dirty="0"/>
              <a:t>그 결과 핵심 기능과 직접적 연결되는 항목은 채택하고</a:t>
            </a:r>
            <a:r>
              <a:rPr lang="en-US" altLang="ko-KR" sz="1900" dirty="0"/>
              <a:t>, </a:t>
            </a:r>
            <a:r>
              <a:rPr lang="ko-KR" altLang="en-US" sz="1900" dirty="0"/>
              <a:t>현재 범위에서 실현이 어려운 항목은 보류하거나 제외하였다</a:t>
            </a:r>
            <a:r>
              <a:rPr lang="en-US" altLang="ko-KR" sz="1900" dirty="0"/>
              <a:t>.</a:t>
            </a:r>
            <a:endParaRPr lang="en-US" sz="19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B50F27F-33F9-4FF1-A491-C403E4FA7F6F}"/>
              </a:ext>
            </a:extLst>
          </p:cNvPr>
          <p:cNvGrpSpPr/>
          <p:nvPr/>
        </p:nvGrpSpPr>
        <p:grpSpPr>
          <a:xfrm>
            <a:off x="1441012" y="2723842"/>
            <a:ext cx="9309669" cy="3695851"/>
            <a:chOff x="822960" y="1325880"/>
            <a:chExt cx="10561320" cy="5120640"/>
          </a:xfrm>
        </p:grpSpPr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B53E25BF-AE19-4600-823F-C1C73F1F66E4}"/>
                </a:ext>
              </a:extLst>
            </p:cNvPr>
            <p:cNvSpPr/>
            <p:nvPr/>
          </p:nvSpPr>
          <p:spPr>
            <a:xfrm>
              <a:off x="822960" y="1325880"/>
              <a:ext cx="5280660" cy="438912"/>
            </a:xfrm>
            <a:prstGeom prst="rect">
              <a:avLst/>
            </a:prstGeom>
            <a:solidFill>
              <a:srgbClr val="163A5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E9652DA0-8517-4BC3-B9DD-807FCE700F70}"/>
                </a:ext>
              </a:extLst>
            </p:cNvPr>
            <p:cNvSpPr/>
            <p:nvPr/>
          </p:nvSpPr>
          <p:spPr>
            <a:xfrm>
              <a:off x="859536" y="1408176"/>
              <a:ext cx="520750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아이디어</a:t>
              </a:r>
              <a:endParaRPr lang="en-US" sz="1400" dirty="0"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673F3729-6884-4B95-9B45-89EDD7251C9A}"/>
                </a:ext>
              </a:extLst>
            </p:cNvPr>
            <p:cNvSpPr/>
            <p:nvPr/>
          </p:nvSpPr>
          <p:spPr>
            <a:xfrm>
              <a:off x="6103620" y="1325880"/>
              <a:ext cx="5280660" cy="438912"/>
            </a:xfrm>
            <a:prstGeom prst="rect">
              <a:avLst/>
            </a:prstGeom>
            <a:solidFill>
              <a:srgbClr val="163A5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A9BFD199-DC76-4918-BC88-21EB3DCC90A2}"/>
                </a:ext>
              </a:extLst>
            </p:cNvPr>
            <p:cNvSpPr/>
            <p:nvPr/>
          </p:nvSpPr>
          <p:spPr>
            <a:xfrm>
              <a:off x="6140196" y="1408176"/>
              <a:ext cx="520750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판단</a:t>
              </a:r>
              <a:endParaRPr lang="en-US" sz="1400" dirty="0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ADE686CA-8839-4D60-95DB-5CDFF9091E0F}"/>
                </a:ext>
              </a:extLst>
            </p:cNvPr>
            <p:cNvSpPr/>
            <p:nvPr/>
          </p:nvSpPr>
          <p:spPr>
            <a:xfrm>
              <a:off x="822960" y="1764792"/>
              <a:ext cx="52806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4AD83C69-1FE2-4E23-9CC8-1692222DE060}"/>
                </a:ext>
              </a:extLst>
            </p:cNvPr>
            <p:cNvSpPr/>
            <p:nvPr/>
          </p:nvSpPr>
          <p:spPr>
            <a:xfrm>
              <a:off x="886968" y="1837944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챗봇 기반 취향 추천</a:t>
              </a:r>
              <a:endParaRPr lang="en-US" sz="1250" dirty="0"/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2D29899B-1F30-46F0-9167-9795E8B88951}"/>
                </a:ext>
              </a:extLst>
            </p:cNvPr>
            <p:cNvSpPr/>
            <p:nvPr/>
          </p:nvSpPr>
          <p:spPr>
            <a:xfrm>
              <a:off x="6103620" y="1764792"/>
              <a:ext cx="52806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6B6CB55F-C0DD-4490-A2BD-0C99CFBDD86B}"/>
                </a:ext>
              </a:extLst>
            </p:cNvPr>
            <p:cNvSpPr/>
            <p:nvPr/>
          </p:nvSpPr>
          <p:spPr>
            <a:xfrm>
              <a:off x="6167628" y="1837944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확장 기능으로 보류</a:t>
              </a:r>
              <a:endParaRPr lang="en-US" sz="1250" dirty="0"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AD162DBC-6F24-4A12-93BD-AD392A18FBA9}"/>
                </a:ext>
              </a:extLst>
            </p:cNvPr>
            <p:cNvSpPr/>
            <p:nvPr/>
          </p:nvSpPr>
          <p:spPr>
            <a:xfrm>
              <a:off x="822960" y="2350008"/>
              <a:ext cx="52806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BECE57BF-FCE6-4F33-8128-AF6AA52E9338}"/>
                </a:ext>
              </a:extLst>
            </p:cNvPr>
            <p:cNvSpPr/>
            <p:nvPr/>
          </p:nvSpPr>
          <p:spPr>
            <a:xfrm>
              <a:off x="886968" y="2423160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카테고리별 분류</a:t>
              </a:r>
              <a:endParaRPr lang="en-US" sz="1250" dirty="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C95E088F-1187-46AE-8456-717D7EFC2531}"/>
                </a:ext>
              </a:extLst>
            </p:cNvPr>
            <p:cNvSpPr/>
            <p:nvPr/>
          </p:nvSpPr>
          <p:spPr>
            <a:xfrm>
              <a:off x="6103620" y="2350008"/>
              <a:ext cx="52806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C2322E03-0ECA-48F4-B7E2-EA4785020715}"/>
                </a:ext>
              </a:extLst>
            </p:cNvPr>
            <p:cNvSpPr/>
            <p:nvPr/>
          </p:nvSpPr>
          <p:spPr>
            <a:xfrm>
              <a:off x="6167628" y="2423160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채택</a:t>
              </a:r>
              <a:endParaRPr lang="en-US" sz="1250" dirty="0"/>
            </a:p>
          </p:txBody>
        </p:sp>
        <p:sp>
          <p:nvSpPr>
            <p:cNvPr id="22" name="Shape 16">
              <a:extLst>
                <a:ext uri="{FF2B5EF4-FFF2-40B4-BE49-F238E27FC236}">
                  <a16:creationId xmlns:a16="http://schemas.microsoft.com/office/drawing/2014/main" id="{8D497ECB-45CB-47D4-9B87-DBD86206C5B8}"/>
                </a:ext>
              </a:extLst>
            </p:cNvPr>
            <p:cNvSpPr/>
            <p:nvPr/>
          </p:nvSpPr>
          <p:spPr>
            <a:xfrm>
              <a:off x="822960" y="2935224"/>
              <a:ext cx="52806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61C83642-57DC-423E-9613-A5F5DF81A646}"/>
                </a:ext>
              </a:extLst>
            </p:cNvPr>
            <p:cNvSpPr/>
            <p:nvPr/>
          </p:nvSpPr>
          <p:spPr>
            <a:xfrm>
              <a:off x="886968" y="3008376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유행 맛집 탐지</a:t>
              </a:r>
              <a:endParaRPr lang="en-US" sz="1250" dirty="0"/>
            </a:p>
          </p:txBody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F2A8BE25-C969-4EAD-BACA-3240DAA679EE}"/>
                </a:ext>
              </a:extLst>
            </p:cNvPr>
            <p:cNvSpPr/>
            <p:nvPr/>
          </p:nvSpPr>
          <p:spPr>
            <a:xfrm>
              <a:off x="6103620" y="2935224"/>
              <a:ext cx="52806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FA6CAFF8-6FC8-4CD7-A073-0CC5BD486765}"/>
                </a:ext>
              </a:extLst>
            </p:cNvPr>
            <p:cNvSpPr/>
            <p:nvPr/>
          </p:nvSpPr>
          <p:spPr>
            <a:xfrm>
              <a:off x="6167628" y="3008376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250" dirty="0"/>
                <a:t>채택</a:t>
              </a:r>
              <a:endParaRPr lang="en-US" sz="1250" dirty="0"/>
            </a:p>
          </p:txBody>
        </p:sp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6F8459C4-F440-4FEF-9A02-3A436DAA3B25}"/>
                </a:ext>
              </a:extLst>
            </p:cNvPr>
            <p:cNvSpPr/>
            <p:nvPr/>
          </p:nvSpPr>
          <p:spPr>
            <a:xfrm>
              <a:off x="822960" y="3520440"/>
              <a:ext cx="52806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A973665C-A5D2-4920-ABBE-5B6A7EB3C37A}"/>
                </a:ext>
              </a:extLst>
            </p:cNvPr>
            <p:cNvSpPr/>
            <p:nvPr/>
          </p:nvSpPr>
          <p:spPr>
            <a:xfrm>
              <a:off x="886968" y="3593592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키워드 검색</a:t>
              </a:r>
              <a:endParaRPr lang="en-US" sz="1250" dirty="0"/>
            </a:p>
          </p:txBody>
        </p:sp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26CDD27B-DF14-4A33-8369-5FDF4B88A3A2}"/>
                </a:ext>
              </a:extLst>
            </p:cNvPr>
            <p:cNvSpPr/>
            <p:nvPr/>
          </p:nvSpPr>
          <p:spPr>
            <a:xfrm>
              <a:off x="6103620" y="3520440"/>
              <a:ext cx="52806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BEDDAF6C-729E-44AE-821E-A6812E22D356}"/>
                </a:ext>
              </a:extLst>
            </p:cNvPr>
            <p:cNvSpPr/>
            <p:nvPr/>
          </p:nvSpPr>
          <p:spPr>
            <a:xfrm>
              <a:off x="6167628" y="3593592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일부 보류 후 검색 기능으로 구체화</a:t>
              </a:r>
              <a:endParaRPr lang="en-US" sz="1250" dirty="0"/>
            </a:p>
          </p:txBody>
        </p:sp>
        <p:sp>
          <p:nvSpPr>
            <p:cNvPr id="30" name="Shape 24">
              <a:extLst>
                <a:ext uri="{FF2B5EF4-FFF2-40B4-BE49-F238E27FC236}">
                  <a16:creationId xmlns:a16="http://schemas.microsoft.com/office/drawing/2014/main" id="{4E7BDDE6-A235-409B-8186-44EAFD0C8E8B}"/>
                </a:ext>
              </a:extLst>
            </p:cNvPr>
            <p:cNvSpPr/>
            <p:nvPr/>
          </p:nvSpPr>
          <p:spPr>
            <a:xfrm>
              <a:off x="822960" y="4105656"/>
              <a:ext cx="52806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AF5FD663-7783-4AD0-83C8-99D84264C532}"/>
                </a:ext>
              </a:extLst>
            </p:cNvPr>
            <p:cNvSpPr/>
            <p:nvPr/>
          </p:nvSpPr>
          <p:spPr>
            <a:xfrm>
              <a:off x="886968" y="4178808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회원가입 기반 개인화</a:t>
              </a:r>
              <a:endParaRPr lang="en-US" sz="1250" dirty="0"/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F9082DF0-6023-4B76-8D76-C97AF433DA9D}"/>
                </a:ext>
              </a:extLst>
            </p:cNvPr>
            <p:cNvSpPr/>
            <p:nvPr/>
          </p:nvSpPr>
          <p:spPr>
            <a:xfrm>
              <a:off x="6103620" y="4105656"/>
              <a:ext cx="52806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AB820295-F2C8-4A81-A6C5-6D229566F73A}"/>
                </a:ext>
              </a:extLst>
            </p:cNvPr>
            <p:cNvSpPr/>
            <p:nvPr/>
          </p:nvSpPr>
          <p:spPr>
            <a:xfrm>
              <a:off x="6167628" y="4178808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확장 기능으로 보류</a:t>
              </a:r>
              <a:endParaRPr lang="en-US" sz="1250" dirty="0"/>
            </a:p>
          </p:txBody>
        </p:sp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3D5FED8F-B387-4AE9-8383-E82069959660}"/>
                </a:ext>
              </a:extLst>
            </p:cNvPr>
            <p:cNvSpPr/>
            <p:nvPr/>
          </p:nvSpPr>
          <p:spPr>
            <a:xfrm>
              <a:off x="822960" y="4690872"/>
              <a:ext cx="52806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D42C4C6A-A718-41A3-9F61-3FA2583186FF}"/>
                </a:ext>
              </a:extLst>
            </p:cNvPr>
            <p:cNvSpPr/>
            <p:nvPr/>
          </p:nvSpPr>
          <p:spPr>
            <a:xfrm>
              <a:off x="886968" y="4764024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정렬 기능</a:t>
              </a:r>
              <a:endParaRPr lang="en-US" sz="1250" dirty="0"/>
            </a:p>
          </p:txBody>
        </p:sp>
        <p:sp>
          <p:nvSpPr>
            <p:cNvPr id="36" name="Shape 30">
              <a:extLst>
                <a:ext uri="{FF2B5EF4-FFF2-40B4-BE49-F238E27FC236}">
                  <a16:creationId xmlns:a16="http://schemas.microsoft.com/office/drawing/2014/main" id="{5067F0AD-B273-407A-ADB2-B997AC9CFE26}"/>
                </a:ext>
              </a:extLst>
            </p:cNvPr>
            <p:cNvSpPr/>
            <p:nvPr/>
          </p:nvSpPr>
          <p:spPr>
            <a:xfrm>
              <a:off x="6103620" y="4690872"/>
              <a:ext cx="52806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4453CA20-9566-4BF1-A62A-942D917D864C}"/>
                </a:ext>
              </a:extLst>
            </p:cNvPr>
            <p:cNvSpPr/>
            <p:nvPr/>
          </p:nvSpPr>
          <p:spPr>
            <a:xfrm>
              <a:off x="6167628" y="4764024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채택</a:t>
              </a:r>
              <a:endParaRPr lang="en-US" sz="1250" dirty="0"/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B2546807-8C56-4AEE-B9CD-37900CA704B7}"/>
                </a:ext>
              </a:extLst>
            </p:cNvPr>
            <p:cNvSpPr/>
            <p:nvPr/>
          </p:nvSpPr>
          <p:spPr>
            <a:xfrm>
              <a:off x="822960" y="5276088"/>
              <a:ext cx="52806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E5E48622-64AD-497A-8FB2-113BB2F4AA69}"/>
                </a:ext>
              </a:extLst>
            </p:cNvPr>
            <p:cNvSpPr/>
            <p:nvPr/>
          </p:nvSpPr>
          <p:spPr>
            <a:xfrm>
              <a:off x="886968" y="5349240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폐업 여부 확인</a:t>
              </a:r>
              <a:endParaRPr lang="en-US" sz="1250" dirty="0"/>
            </a:p>
          </p:txBody>
        </p:sp>
        <p:sp>
          <p:nvSpPr>
            <p:cNvPr id="40" name="Shape 34">
              <a:extLst>
                <a:ext uri="{FF2B5EF4-FFF2-40B4-BE49-F238E27FC236}">
                  <a16:creationId xmlns:a16="http://schemas.microsoft.com/office/drawing/2014/main" id="{CBE3D83E-EEC8-4F11-810E-D158A9B04A81}"/>
                </a:ext>
              </a:extLst>
            </p:cNvPr>
            <p:cNvSpPr/>
            <p:nvPr/>
          </p:nvSpPr>
          <p:spPr>
            <a:xfrm>
              <a:off x="6103620" y="5276088"/>
              <a:ext cx="52806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41" name="Text 35">
              <a:extLst>
                <a:ext uri="{FF2B5EF4-FFF2-40B4-BE49-F238E27FC236}">
                  <a16:creationId xmlns:a16="http://schemas.microsoft.com/office/drawing/2014/main" id="{98FFFE5D-3495-441C-9C1E-F839EC1A0CF3}"/>
                </a:ext>
              </a:extLst>
            </p:cNvPr>
            <p:cNvSpPr/>
            <p:nvPr/>
          </p:nvSpPr>
          <p:spPr>
            <a:xfrm>
              <a:off x="6264223" y="5397042"/>
              <a:ext cx="4966092" cy="32918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ko-KR" sz="1400" u="sng" dirty="0">
                  <a:effectLst/>
                  <a:hlinkClick r:id="rId3"/>
                </a:rPr>
                <a:t>BizNo.net</a:t>
              </a:r>
              <a:r>
                <a:rPr lang="ko-KR" altLang="en-US" sz="1400" dirty="0"/>
                <a:t> 이용 조회 이용해서 국세청에서 폐업 확인</a:t>
              </a:r>
              <a:endParaRPr lang="en-US" sz="1250" dirty="0"/>
            </a:p>
          </p:txBody>
        </p:sp>
        <p:sp>
          <p:nvSpPr>
            <p:cNvPr id="42" name="Shape 36">
              <a:extLst>
                <a:ext uri="{FF2B5EF4-FFF2-40B4-BE49-F238E27FC236}">
                  <a16:creationId xmlns:a16="http://schemas.microsoft.com/office/drawing/2014/main" id="{6F8D5824-5C6F-4743-BC39-3EFCE77F7D73}"/>
                </a:ext>
              </a:extLst>
            </p:cNvPr>
            <p:cNvSpPr/>
            <p:nvPr/>
          </p:nvSpPr>
          <p:spPr>
            <a:xfrm>
              <a:off x="822960" y="5861304"/>
              <a:ext cx="52806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53F054CF-D93B-4D5F-A4EC-6A95B8F78D5C}"/>
                </a:ext>
              </a:extLst>
            </p:cNvPr>
            <p:cNvSpPr/>
            <p:nvPr/>
          </p:nvSpPr>
          <p:spPr>
            <a:xfrm>
              <a:off x="886968" y="5934456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계절 적합성 반영</a:t>
              </a:r>
              <a:endParaRPr lang="en-US" sz="1250" dirty="0"/>
            </a:p>
          </p:txBody>
        </p:sp>
        <p:sp>
          <p:nvSpPr>
            <p:cNvPr id="44" name="Shape 38">
              <a:extLst>
                <a:ext uri="{FF2B5EF4-FFF2-40B4-BE49-F238E27FC236}">
                  <a16:creationId xmlns:a16="http://schemas.microsoft.com/office/drawing/2014/main" id="{743B5D0C-5129-48E9-92B5-64848C788D52}"/>
                </a:ext>
              </a:extLst>
            </p:cNvPr>
            <p:cNvSpPr/>
            <p:nvPr/>
          </p:nvSpPr>
          <p:spPr>
            <a:xfrm>
              <a:off x="6103620" y="5861304"/>
              <a:ext cx="52806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45" name="Text 39">
              <a:extLst>
                <a:ext uri="{FF2B5EF4-FFF2-40B4-BE49-F238E27FC236}">
                  <a16:creationId xmlns:a16="http://schemas.microsoft.com/office/drawing/2014/main" id="{085C3A07-31EA-4E90-B115-E9B54C117E6A}"/>
                </a:ext>
              </a:extLst>
            </p:cNvPr>
            <p:cNvSpPr/>
            <p:nvPr/>
          </p:nvSpPr>
          <p:spPr>
            <a:xfrm>
              <a:off x="6167628" y="5934456"/>
              <a:ext cx="51526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 err="1">
                  <a:solidFill>
                    <a:srgbClr val="1F2937"/>
                  </a:solidFill>
                </a:rPr>
                <a:t>핵심</a:t>
              </a:r>
              <a:r>
                <a:rPr lang="en-US" sz="1250" dirty="0">
                  <a:solidFill>
                    <a:srgbClr val="1F2937"/>
                  </a:solidFill>
                </a:rPr>
                <a:t> </a:t>
              </a:r>
              <a:r>
                <a:rPr lang="en-US" sz="1250" dirty="0" err="1">
                  <a:solidFill>
                    <a:srgbClr val="1F2937"/>
                  </a:solidFill>
                </a:rPr>
                <a:t>차별화</a:t>
              </a:r>
              <a:r>
                <a:rPr lang="en-US" sz="1250" dirty="0">
                  <a:solidFill>
                    <a:srgbClr val="1F2937"/>
                  </a:solidFill>
                </a:rPr>
                <a:t> </a:t>
              </a:r>
              <a:r>
                <a:rPr lang="en-US" sz="1250" dirty="0" err="1">
                  <a:solidFill>
                    <a:srgbClr val="1F2937"/>
                  </a:solidFill>
                </a:rPr>
                <a:t>요소로</a:t>
              </a:r>
              <a:r>
                <a:rPr lang="en-US" sz="1250" dirty="0">
                  <a:solidFill>
                    <a:srgbClr val="1F2937"/>
                  </a:solidFill>
                </a:rPr>
                <a:t> </a:t>
              </a:r>
              <a:r>
                <a:rPr lang="en-US" sz="1250" dirty="0" err="1">
                  <a:solidFill>
                    <a:srgbClr val="1F2937"/>
                  </a:solidFill>
                </a:rPr>
                <a:t>채택</a:t>
              </a:r>
              <a:endParaRPr lang="en-US" sz="1250" dirty="0"/>
            </a:p>
          </p:txBody>
        </p:sp>
      </p:grpSp>
      <p:sp>
        <p:nvSpPr>
          <p:cNvPr id="47" name="Text 10">
            <a:extLst>
              <a:ext uri="{FF2B5EF4-FFF2-40B4-BE49-F238E27FC236}">
                <a16:creationId xmlns:a16="http://schemas.microsoft.com/office/drawing/2014/main" id="{DA53AD51-852F-48C9-B3DF-B833E13AACCE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9/35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채택 요구사항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303520" cy="2046062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143000"/>
            <a:ext cx="5303520" cy="2046062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사용자 기능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73952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분석 기능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업체명·메뉴·위치 검색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평점순·리뷰 많은 순 정렬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한식·중식·일식·양식·카페 필터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상세 페이지 제공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19672" y="1641990"/>
            <a:ext cx="4572000" cy="139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리뷰 </a:t>
            </a:r>
            <a:r>
              <a:rPr lang="en-US" sz="1750" dirty="0" err="1">
                <a:solidFill>
                  <a:srgbClr val="1F2937"/>
                </a:solidFill>
              </a:rPr>
              <a:t>기반</a:t>
            </a:r>
            <a:r>
              <a:rPr lang="en-US" sz="1750" dirty="0">
                <a:solidFill>
                  <a:srgbClr val="1F2937"/>
                </a:solidFill>
              </a:rPr>
              <a:t> </a:t>
            </a:r>
            <a:r>
              <a:rPr lang="ko-KR" altLang="en-US" sz="1750" dirty="0">
                <a:solidFill>
                  <a:srgbClr val="1F2937"/>
                </a:solidFill>
              </a:rPr>
              <a:t>평점 </a:t>
            </a:r>
            <a:r>
              <a:rPr lang="en-US" sz="1750" dirty="0" err="1">
                <a:solidFill>
                  <a:srgbClr val="1F2937"/>
                </a:solidFill>
              </a:rPr>
              <a:t>점수</a:t>
            </a:r>
            <a:r>
              <a:rPr lang="en-US" sz="1750" dirty="0">
                <a:solidFill>
                  <a:srgbClr val="1F2937"/>
                </a:solidFill>
              </a:rPr>
              <a:t> </a:t>
            </a:r>
            <a:r>
              <a:rPr lang="en-US" sz="1750" dirty="0" err="1">
                <a:solidFill>
                  <a:srgbClr val="1F2937"/>
                </a:solidFill>
              </a:rPr>
              <a:t>산정</a:t>
            </a:r>
            <a:endParaRPr lang="en-US" sz="1750" dirty="0">
              <a:solidFill>
                <a:srgbClr val="1F2937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ko-KR" altLang="en-US" sz="1750" dirty="0">
                <a:solidFill>
                  <a:srgbClr val="1F2937"/>
                </a:solidFill>
              </a:rPr>
              <a:t>맛 리뷰 반영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최근 3개월 리뷰 반영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편의성 정보 반영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계절 적합성 점수 반영</a:t>
            </a:r>
            <a:endParaRPr lang="en-US" sz="175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FD8E211-DE0F-4B96-ACA8-CC7A4F5553A5}"/>
              </a:ext>
            </a:extLst>
          </p:cNvPr>
          <p:cNvGrpSpPr/>
          <p:nvPr/>
        </p:nvGrpSpPr>
        <p:grpSpPr>
          <a:xfrm>
            <a:off x="640080" y="4186592"/>
            <a:ext cx="10949534" cy="1889542"/>
            <a:chOff x="743712" y="1325880"/>
            <a:chExt cx="10728069" cy="2763386"/>
          </a:xfrm>
        </p:grpSpPr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8A1F4553-3B87-4484-B38A-AC47518FBB95}"/>
                </a:ext>
              </a:extLst>
            </p:cNvPr>
            <p:cNvSpPr/>
            <p:nvPr/>
          </p:nvSpPr>
          <p:spPr>
            <a:xfrm>
              <a:off x="749808" y="1325880"/>
              <a:ext cx="5349240" cy="438912"/>
            </a:xfrm>
            <a:prstGeom prst="rect">
              <a:avLst/>
            </a:prstGeom>
            <a:solidFill>
              <a:srgbClr val="163A5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15154FBD-32E0-4328-A81E-38701557E587}"/>
                </a:ext>
              </a:extLst>
            </p:cNvPr>
            <p:cNvSpPr/>
            <p:nvPr/>
          </p:nvSpPr>
          <p:spPr>
            <a:xfrm>
              <a:off x="774638" y="1474706"/>
              <a:ext cx="527608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항목</a:t>
              </a:r>
              <a:endParaRPr lang="en-US" sz="1400" dirty="0"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3659DBA4-DA9B-4648-9711-C8435A651EDB}"/>
                </a:ext>
              </a:extLst>
            </p:cNvPr>
            <p:cNvSpPr/>
            <p:nvPr/>
          </p:nvSpPr>
          <p:spPr>
            <a:xfrm>
              <a:off x="6099048" y="1325880"/>
              <a:ext cx="5349240" cy="438912"/>
            </a:xfrm>
            <a:prstGeom prst="rect">
              <a:avLst/>
            </a:prstGeom>
            <a:solidFill>
              <a:srgbClr val="163A5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B0B18799-B19A-4CA8-AEBD-FD0C85529C10}"/>
                </a:ext>
              </a:extLst>
            </p:cNvPr>
            <p:cNvSpPr/>
            <p:nvPr/>
          </p:nvSpPr>
          <p:spPr>
            <a:xfrm>
              <a:off x="6195693" y="1453217"/>
              <a:ext cx="527608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판단 이유</a:t>
              </a:r>
              <a:endParaRPr lang="en-US" sz="1400" dirty="0"/>
            </a:p>
          </p:txBody>
        </p:sp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522AD456-FB7B-4646-B6F1-332A8BDD0B83}"/>
                </a:ext>
              </a:extLst>
            </p:cNvPr>
            <p:cNvSpPr/>
            <p:nvPr/>
          </p:nvSpPr>
          <p:spPr>
            <a:xfrm>
              <a:off x="749808" y="1764792"/>
              <a:ext cx="534924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AC5DD31E-2E63-471F-BB7E-71DD9FCC9137}"/>
                </a:ext>
              </a:extLst>
            </p:cNvPr>
            <p:cNvSpPr/>
            <p:nvPr/>
          </p:nvSpPr>
          <p:spPr>
            <a:xfrm>
              <a:off x="813816" y="1837944"/>
              <a:ext cx="522122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250" dirty="0"/>
                <a:t>회원의 연령대</a:t>
              </a:r>
              <a:r>
                <a:rPr lang="en-US" altLang="ko-KR" sz="1250" dirty="0"/>
                <a:t>, </a:t>
              </a:r>
              <a:r>
                <a:rPr lang="ko-KR" altLang="en-US" sz="1250" dirty="0"/>
                <a:t>성별 바탕 추천메뉴 분석하고 제안 도입 추천</a:t>
              </a:r>
              <a:endParaRPr lang="en-US" sz="1250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ACAC4196-D09F-4E88-A086-16E6CB4F3184}"/>
                </a:ext>
              </a:extLst>
            </p:cNvPr>
            <p:cNvSpPr/>
            <p:nvPr/>
          </p:nvSpPr>
          <p:spPr>
            <a:xfrm>
              <a:off x="6099048" y="1764792"/>
              <a:ext cx="534924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99AD03F9-07E8-4E5C-AB13-6606AEBDF654}"/>
                </a:ext>
              </a:extLst>
            </p:cNvPr>
            <p:cNvSpPr/>
            <p:nvPr/>
          </p:nvSpPr>
          <p:spPr>
            <a:xfrm>
              <a:off x="749808" y="2350008"/>
              <a:ext cx="534924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19371DFA-606D-4126-9FD4-9B9C4277F3A2}"/>
                </a:ext>
              </a:extLst>
            </p:cNvPr>
            <p:cNvSpPr/>
            <p:nvPr/>
          </p:nvSpPr>
          <p:spPr>
            <a:xfrm>
              <a:off x="813816" y="2423160"/>
              <a:ext cx="522122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챗봇 기반 추천</a:t>
              </a:r>
              <a:endParaRPr lang="en-US" sz="1250" dirty="0"/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F4B4A28D-A673-4DB8-B30B-4ED862C565A5}"/>
                </a:ext>
              </a:extLst>
            </p:cNvPr>
            <p:cNvSpPr/>
            <p:nvPr/>
          </p:nvSpPr>
          <p:spPr>
            <a:xfrm>
              <a:off x="6099048" y="2350008"/>
              <a:ext cx="534924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1F228A80-11D1-4808-B7E9-283D919482EB}"/>
                </a:ext>
              </a:extLst>
            </p:cNvPr>
            <p:cNvSpPr/>
            <p:nvPr/>
          </p:nvSpPr>
          <p:spPr>
            <a:xfrm>
              <a:off x="6163056" y="2423160"/>
              <a:ext cx="522122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250" dirty="0"/>
                <a:t> 확장성으로 보류</a:t>
              </a:r>
              <a:endParaRPr lang="en-US" sz="1250" dirty="0"/>
            </a:p>
          </p:txBody>
        </p:sp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E4C84BBB-7841-48CC-A9E2-82C2A3B0C92D}"/>
                </a:ext>
              </a:extLst>
            </p:cNvPr>
            <p:cNvSpPr/>
            <p:nvPr/>
          </p:nvSpPr>
          <p:spPr>
            <a:xfrm>
              <a:off x="749808" y="2935224"/>
              <a:ext cx="534924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34DA8B63-7928-4280-9D71-20D7E381B2B3}"/>
                </a:ext>
              </a:extLst>
            </p:cNvPr>
            <p:cNvSpPr/>
            <p:nvPr/>
          </p:nvSpPr>
          <p:spPr>
            <a:xfrm>
              <a:off x="813816" y="3008376"/>
              <a:ext cx="522122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회원가입 기반 거주지 추천</a:t>
              </a:r>
              <a:endParaRPr lang="en-US" sz="1250" dirty="0"/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A357833D-50A8-4D2A-8A25-B6785B3E7B9F}"/>
                </a:ext>
              </a:extLst>
            </p:cNvPr>
            <p:cNvSpPr/>
            <p:nvPr/>
          </p:nvSpPr>
          <p:spPr>
            <a:xfrm>
              <a:off x="6099048" y="2935224"/>
              <a:ext cx="534924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F3FFC863-09ED-4C18-BB2D-163F8419E82C}"/>
                </a:ext>
              </a:extLst>
            </p:cNvPr>
            <p:cNvSpPr/>
            <p:nvPr/>
          </p:nvSpPr>
          <p:spPr>
            <a:xfrm>
              <a:off x="6163056" y="3008376"/>
              <a:ext cx="522122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250" dirty="0">
                  <a:solidFill>
                    <a:srgbClr val="1F2937"/>
                  </a:solidFill>
                </a:rPr>
                <a:t> 확장성으로 보류</a:t>
              </a:r>
              <a:endParaRPr lang="en-US" sz="1250" dirty="0"/>
            </a:p>
          </p:txBody>
        </p:sp>
        <p:sp>
          <p:nvSpPr>
            <p:cNvPr id="29" name="Shape 24">
              <a:extLst>
                <a:ext uri="{FF2B5EF4-FFF2-40B4-BE49-F238E27FC236}">
                  <a16:creationId xmlns:a16="http://schemas.microsoft.com/office/drawing/2014/main" id="{8CB75BFD-3A53-4EE5-B5E6-9F4AA6BC7B6B}"/>
                </a:ext>
              </a:extLst>
            </p:cNvPr>
            <p:cNvSpPr/>
            <p:nvPr/>
          </p:nvSpPr>
          <p:spPr>
            <a:xfrm>
              <a:off x="743712" y="3504050"/>
              <a:ext cx="534924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0" name="Text 25">
              <a:extLst>
                <a:ext uri="{FF2B5EF4-FFF2-40B4-BE49-F238E27FC236}">
                  <a16:creationId xmlns:a16="http://schemas.microsoft.com/office/drawing/2014/main" id="{5C8601BA-EB1F-4180-820B-A2B4B1169153}"/>
                </a:ext>
              </a:extLst>
            </p:cNvPr>
            <p:cNvSpPr/>
            <p:nvPr/>
          </p:nvSpPr>
          <p:spPr>
            <a:xfrm>
              <a:off x="786384" y="3558914"/>
              <a:ext cx="522122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GPS 기반 위치 추천</a:t>
              </a:r>
              <a:endParaRPr lang="en-US" sz="1250" dirty="0"/>
            </a:p>
          </p:txBody>
        </p:sp>
        <p:sp>
          <p:nvSpPr>
            <p:cNvPr id="31" name="Shape 26">
              <a:extLst>
                <a:ext uri="{FF2B5EF4-FFF2-40B4-BE49-F238E27FC236}">
                  <a16:creationId xmlns:a16="http://schemas.microsoft.com/office/drawing/2014/main" id="{C1BAA4BD-C33A-48B0-B942-970C50F1ADDC}"/>
                </a:ext>
              </a:extLst>
            </p:cNvPr>
            <p:cNvSpPr/>
            <p:nvPr/>
          </p:nvSpPr>
          <p:spPr>
            <a:xfrm>
              <a:off x="6099048" y="3465576"/>
              <a:ext cx="534924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2" name="Text 27">
              <a:extLst>
                <a:ext uri="{FF2B5EF4-FFF2-40B4-BE49-F238E27FC236}">
                  <a16:creationId xmlns:a16="http://schemas.microsoft.com/office/drawing/2014/main" id="{C3A8C90D-6A33-474C-8FBD-9AD0F85CF683}"/>
                </a:ext>
              </a:extLst>
            </p:cNvPr>
            <p:cNvSpPr/>
            <p:nvPr/>
          </p:nvSpPr>
          <p:spPr>
            <a:xfrm>
              <a:off x="6092952" y="3592557"/>
              <a:ext cx="522122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구현 범위와 사용자 </a:t>
              </a:r>
              <a:r>
                <a:rPr lang="en-US" sz="1250" dirty="0" err="1">
                  <a:solidFill>
                    <a:srgbClr val="1F2937"/>
                  </a:solidFill>
                </a:rPr>
                <a:t>동의</a:t>
              </a:r>
              <a:r>
                <a:rPr lang="en-US" sz="1250" dirty="0">
                  <a:solidFill>
                    <a:srgbClr val="1F2937"/>
                  </a:solidFill>
                </a:rPr>
                <a:t> </a:t>
              </a:r>
              <a:r>
                <a:rPr lang="en-US" sz="1250" dirty="0" err="1">
                  <a:solidFill>
                    <a:srgbClr val="1F2937"/>
                  </a:solidFill>
                </a:rPr>
                <a:t>이슈</a:t>
              </a:r>
              <a:r>
                <a:rPr lang="ko-KR" altLang="en-US" sz="1250" dirty="0">
                  <a:solidFill>
                    <a:srgbClr val="1F2937"/>
                  </a:solidFill>
                </a:rPr>
                <a:t>로 보류</a:t>
              </a:r>
              <a:endParaRPr lang="en-US" sz="1250" dirty="0"/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451AB249-B764-4388-AF76-91A00B2F6769}"/>
                </a:ext>
              </a:extLst>
            </p:cNvPr>
            <p:cNvSpPr/>
            <p:nvPr/>
          </p:nvSpPr>
          <p:spPr>
            <a:xfrm>
              <a:off x="6227064" y="1842754"/>
              <a:ext cx="522122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250" dirty="0"/>
                <a:t>확장성으로 보류</a:t>
              </a:r>
              <a:endParaRPr lang="en-US" sz="1250" dirty="0"/>
            </a:p>
          </p:txBody>
        </p:sp>
      </p:grpSp>
      <p:sp>
        <p:nvSpPr>
          <p:cNvPr id="34" name="Shape 2">
            <a:extLst>
              <a:ext uri="{FF2B5EF4-FFF2-40B4-BE49-F238E27FC236}">
                <a16:creationId xmlns:a16="http://schemas.microsoft.com/office/drawing/2014/main" id="{F6EE7DAD-1877-4427-94FE-AF9061EAB76A}"/>
              </a:ext>
            </a:extLst>
          </p:cNvPr>
          <p:cNvSpPr/>
          <p:nvPr/>
        </p:nvSpPr>
        <p:spPr>
          <a:xfrm>
            <a:off x="432660" y="4021219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0001205C-D851-461E-809A-F8C14C737D1F}"/>
              </a:ext>
            </a:extLst>
          </p:cNvPr>
          <p:cNvSpPr/>
          <p:nvPr/>
        </p:nvSpPr>
        <p:spPr>
          <a:xfrm>
            <a:off x="594360" y="369147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63A5F"/>
                </a:solidFill>
              </a:rPr>
              <a:t>보류</a:t>
            </a:r>
            <a:r>
              <a:rPr lang="en-US" altLang="ko-KR" sz="1900" b="1" dirty="0">
                <a:solidFill>
                  <a:srgbClr val="163A5F"/>
                </a:solidFill>
              </a:rPr>
              <a:t>/ </a:t>
            </a:r>
            <a:r>
              <a:rPr lang="ko-KR" altLang="en-US" sz="1900" b="1" dirty="0">
                <a:solidFill>
                  <a:srgbClr val="163A5F"/>
                </a:solidFill>
              </a:rPr>
              <a:t>제외 요구사항과 이유 </a:t>
            </a:r>
            <a:endParaRPr lang="en-US" sz="19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31CE8364-AC47-4F7B-A976-F91A6A066E33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0/35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이용 시나리오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C8E399F-0ED3-43A8-83BC-EFDA3771C7ED}"/>
              </a:ext>
            </a:extLst>
          </p:cNvPr>
          <p:cNvGrpSpPr/>
          <p:nvPr/>
        </p:nvGrpSpPr>
        <p:grpSpPr>
          <a:xfrm>
            <a:off x="548640" y="3006091"/>
            <a:ext cx="10698480" cy="914400"/>
            <a:chOff x="685800" y="2377440"/>
            <a:chExt cx="10698480" cy="914400"/>
          </a:xfrm>
        </p:grpSpPr>
        <p:sp>
          <p:nvSpPr>
            <p:cNvPr id="6" name="Shape 4"/>
            <p:cNvSpPr/>
            <p:nvPr/>
          </p:nvSpPr>
          <p:spPr>
            <a:xfrm>
              <a:off x="68580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79552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지역 선택</a:t>
              </a:r>
              <a:endParaRPr lang="en-US" sz="17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49631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292608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F4F8FC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35808" y="2633472"/>
              <a:ext cx="1591056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카테고리 선택</a:t>
              </a:r>
              <a:endParaRPr lang="en-US" sz="17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3659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516636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27608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검색 입력</a:t>
              </a:r>
              <a:endParaRPr lang="en-US" sz="17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97687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740664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F4F8FC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51636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목록 확인</a:t>
              </a:r>
              <a:endParaRPr lang="en-US" sz="17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921715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964692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975664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상세 조회</a:t>
              </a:r>
              <a:endParaRPr lang="en-US" sz="1700" dirty="0"/>
            </a:p>
          </p:txBody>
        </p:sp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6CBDE13C-6E8B-4141-883E-F0F95672780E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1/35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 w="12700">
            <a:solidFill>
              <a:srgbClr val="F5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</a:rPr>
              <a:t>데이터 수집 및 전처리</a:t>
            </a:r>
            <a:endParaRPr lang="en-US" sz="28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0C1E5496-1EAE-46D2-B81C-48AA25577492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2/35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대상 데이터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371600"/>
            <a:ext cx="528066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53896"/>
            <a:ext cx="52075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구분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5332" y="1371600"/>
            <a:ext cx="528066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1908" y="1453896"/>
            <a:ext cx="52075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수집 항목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1810512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83664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기본 정보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5332" y="1810512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9340" y="1883664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업체명, 주소, 전화번호, 영업시간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" y="2395728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468880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메뉴 정보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5332" y="2395728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9340" y="2468880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메뉴명, 가격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2980944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054096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리뷰 정보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5332" y="2980944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9340" y="3054096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방문자 리뷰, 블로그 리뷰, 리뷰 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" y="3566160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39312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편의 정보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5332" y="3566160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9340" y="3639312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주차, 단체 이용, 포장, 배달, 유아의자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" y="4151376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24528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추가 정보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85332" y="4151376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9340" y="4224528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업체 소개, 사진, “이런 점이 좋았어요”</a:t>
            </a:r>
            <a:endParaRPr lang="en-US" sz="125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BA132D4B-4053-45D4-9976-10A0E52AD6CB}"/>
              </a:ext>
            </a:extLst>
          </p:cNvPr>
          <p:cNvSpPr/>
          <p:nvPr/>
        </p:nvSpPr>
        <p:spPr>
          <a:xfrm>
            <a:off x="804672" y="4760667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5" name="Shape 20">
            <a:extLst>
              <a:ext uri="{FF2B5EF4-FFF2-40B4-BE49-F238E27FC236}">
                <a16:creationId xmlns:a16="http://schemas.microsoft.com/office/drawing/2014/main" id="{60F1955D-9D51-43AB-8717-C0FC9D333CEB}"/>
              </a:ext>
            </a:extLst>
          </p:cNvPr>
          <p:cNvSpPr/>
          <p:nvPr/>
        </p:nvSpPr>
        <p:spPr>
          <a:xfrm>
            <a:off x="6085332" y="4760667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A608B274-1032-4C1C-9148-8B4AEC23716A}"/>
              </a:ext>
            </a:extLst>
          </p:cNvPr>
          <p:cNvSpPr/>
          <p:nvPr/>
        </p:nvSpPr>
        <p:spPr>
          <a:xfrm>
            <a:off x="841248" y="4851688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F2937"/>
                </a:solidFill>
              </a:rPr>
              <a:t>폐업 정보</a:t>
            </a:r>
            <a:endParaRPr lang="en-US" sz="1250" dirty="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7938946E-2FD5-49D6-96A8-5C5FE5D07CF1}"/>
              </a:ext>
            </a:extLst>
          </p:cNvPr>
          <p:cNvSpPr/>
          <p:nvPr/>
        </p:nvSpPr>
        <p:spPr>
          <a:xfrm>
            <a:off x="6176772" y="4864608"/>
            <a:ext cx="5125212" cy="371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400" b="0" i="0" dirty="0" err="1">
                <a:solidFill>
                  <a:srgbClr val="1C1C1E"/>
                </a:solidFill>
                <a:effectLst/>
                <a:latin typeface="Pretendard Variable"/>
              </a:rPr>
              <a:t>BizNo</a:t>
            </a:r>
            <a:r>
              <a:rPr lang="en-US" altLang="ko-KR" sz="1400" b="0" i="0" dirty="0">
                <a:solidFill>
                  <a:srgbClr val="1C1C1E"/>
                </a:solidFill>
                <a:effectLst/>
                <a:latin typeface="Pretendard Variable"/>
              </a:rPr>
              <a:t>/</a:t>
            </a:r>
            <a:r>
              <a:rPr lang="ko-KR" altLang="en-US" sz="1400" b="0" i="0" dirty="0">
                <a:solidFill>
                  <a:srgbClr val="1C1C1E"/>
                </a:solidFill>
                <a:effectLst/>
                <a:latin typeface="Pretendard Variable"/>
              </a:rPr>
              <a:t>국세청 사업자 상태조회 결과</a:t>
            </a:r>
            <a:endParaRPr lang="en-US" sz="125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2B0C3F24-F191-4A79-A852-7BF2D43703A0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3/35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4개 지역 선정 이유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5068" y="1508760"/>
            <a:ext cx="2971800" cy="2926080"/>
          </a:xfrm>
          <a:prstGeom prst="roundRect">
            <a:avLst>
              <a:gd name="adj" fmla="val 1563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53728" y="19888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5F"/>
                </a:solidFill>
              </a:rPr>
              <a:t>선정 지역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70848" y="2697479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FB2"/>
                </a:solidFill>
              </a:rPr>
              <a:t>전북대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F6FB2"/>
                </a:solidFill>
              </a:rPr>
              <a:t>객사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2F6FB2"/>
                </a:solidFill>
              </a:rPr>
              <a:t>신시가지</a:t>
            </a:r>
            <a:endParaRPr lang="en-US" sz="2200" b="1" dirty="0">
              <a:solidFill>
                <a:srgbClr val="2F6FB2"/>
              </a:solidFill>
            </a:endParaRPr>
          </a:p>
          <a:p>
            <a:pPr marL="0" indent="0" algn="ctr">
              <a:buNone/>
            </a:pPr>
            <a:r>
              <a:rPr lang="ko-KR" altLang="en-US" sz="2200" b="1" dirty="0">
                <a:solidFill>
                  <a:srgbClr val="2F6FB2"/>
                </a:solidFill>
              </a:rPr>
              <a:t>한옥마을</a:t>
            </a:r>
            <a:endParaRPr lang="en-US" sz="22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B547EB7-C493-419B-9C81-F53B3F6DC38C}"/>
              </a:ext>
            </a:extLst>
          </p:cNvPr>
          <p:cNvSpPr/>
          <p:nvPr/>
        </p:nvSpPr>
        <p:spPr>
          <a:xfrm>
            <a:off x="433307" y="1508760"/>
            <a:ext cx="7773622" cy="3291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900" dirty="0"/>
              <a:t>전주의 대표 상권 </a:t>
            </a:r>
            <a:r>
              <a:rPr lang="en-US" altLang="ko-KR" sz="1900" dirty="0"/>
              <a:t>4</a:t>
            </a:r>
            <a:r>
              <a:rPr lang="ko-KR" altLang="en-US" sz="1900" dirty="0"/>
              <a:t>곳을 중심으로 분석 수행</a:t>
            </a:r>
            <a:endParaRPr lang="en-US" altLang="ko-KR" sz="1900" dirty="0"/>
          </a:p>
          <a:p>
            <a:pPr>
              <a:buSzPct val="100000"/>
            </a:pP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</a:rPr>
              <a:t>전북대·객사·신시가지</a:t>
            </a:r>
            <a:r>
              <a:rPr lang="en-US" altLang="ko-KR" sz="1900" dirty="0">
                <a:solidFill>
                  <a:srgbClr val="1F2937"/>
                </a:solidFill>
              </a:rPr>
              <a:t>·</a:t>
            </a:r>
            <a:r>
              <a:rPr lang="ko-KR" altLang="en-US" sz="1900" dirty="0">
                <a:solidFill>
                  <a:srgbClr val="1F2937"/>
                </a:solidFill>
              </a:rPr>
              <a:t>한옥마을</a:t>
            </a:r>
            <a:r>
              <a:rPr lang="en-US" sz="1900" dirty="0">
                <a:solidFill>
                  <a:srgbClr val="1F2937"/>
                </a:solidFill>
              </a:rPr>
              <a:t>로 </a:t>
            </a:r>
            <a:r>
              <a:rPr lang="en-US" sz="1900" dirty="0" err="1">
                <a:solidFill>
                  <a:srgbClr val="1F2937"/>
                </a:solidFill>
              </a:rPr>
              <a:t>설정하여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ko-KR" altLang="en-US" sz="1900" dirty="0">
                <a:solidFill>
                  <a:srgbClr val="1F2937"/>
                </a:solidFill>
              </a:rPr>
              <a:t>분석해서 맛집 추천</a:t>
            </a:r>
            <a:endParaRPr lang="en-US" altLang="ko-KR" sz="1900" dirty="0">
              <a:solidFill>
                <a:srgbClr val="1F2937"/>
              </a:solidFill>
            </a:endParaRPr>
          </a:p>
          <a:p>
            <a:pPr>
              <a:buSzPct val="100000"/>
            </a:pPr>
            <a:endParaRPr lang="en-US" altLang="ko-KR" sz="1900" dirty="0">
              <a:solidFill>
                <a:srgbClr val="1F2937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ko-KR" altLang="en-US" sz="1900" dirty="0">
                <a:solidFill>
                  <a:srgbClr val="1F2937"/>
                </a:solidFill>
              </a:rPr>
              <a:t>소비자가 방문 목적에 따라 원하는 맛집 정보를 더 정확하게 추천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E220E24-B16F-4A5C-97ED-3F7DB8E9980C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4/35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출처 선정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네이버 지도 선택 이유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73952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63A5F"/>
                </a:solidFill>
              </a:rPr>
              <a:t>추후 확장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리뷰와 업체 정보의 양이 상대적으로 많음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메뉴, 영업시간, 편의시설 등 부가 정보 확보 가능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카테고리 정보가 정리되어 있어 리매핑에 유리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19672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ko-KR" altLang="en-US" sz="1750" dirty="0"/>
              <a:t>네이버 지도를 통해 시스템화 후 필요시 다른 </a:t>
            </a:r>
            <a:r>
              <a:rPr lang="en-US" altLang="ko-KR" sz="1750" dirty="0"/>
              <a:t>SNS</a:t>
            </a:r>
            <a:r>
              <a:rPr lang="ko-KR" altLang="en-US" sz="1750" dirty="0"/>
              <a:t> 추가 예정</a:t>
            </a:r>
            <a:endParaRPr lang="en-US" altLang="ko-KR" sz="1750" dirty="0"/>
          </a:p>
          <a:p>
            <a:pPr marL="177800" indent="-177800">
              <a:buSzPct val="100000"/>
              <a:buChar char="•"/>
            </a:pPr>
            <a:r>
              <a:rPr lang="ko-KR" altLang="en-US" sz="1750" dirty="0"/>
              <a:t>후보 목록 </a:t>
            </a:r>
            <a:r>
              <a:rPr lang="en-US" altLang="ko-KR" sz="1750" dirty="0"/>
              <a:t>: </a:t>
            </a:r>
            <a:r>
              <a:rPr lang="ko-KR" altLang="en-US" sz="1750" dirty="0" err="1"/>
              <a:t>카카오맵</a:t>
            </a:r>
            <a:r>
              <a:rPr lang="en-US" altLang="ko-KR" sz="1750" dirty="0"/>
              <a:t>, </a:t>
            </a:r>
            <a:r>
              <a:rPr lang="ko-KR" altLang="en-US" sz="1750" dirty="0"/>
              <a:t>인스타</a:t>
            </a:r>
            <a:r>
              <a:rPr lang="en-US" altLang="ko-KR" sz="1750" dirty="0"/>
              <a:t>, </a:t>
            </a:r>
            <a:r>
              <a:rPr lang="ko-KR" altLang="en-US" sz="1750" dirty="0"/>
              <a:t>메타</a:t>
            </a:r>
            <a:r>
              <a:rPr lang="en-US" altLang="ko-KR" sz="1750" dirty="0"/>
              <a:t>, X</a:t>
            </a:r>
            <a:endParaRPr lang="en-US" sz="1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EB40C5D-037B-4CE4-A8AE-34AB19AA438A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5/35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프로세스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C33AA4B-8310-4D6E-96E0-6FBFF1971BF0}"/>
              </a:ext>
            </a:extLst>
          </p:cNvPr>
          <p:cNvGrpSpPr/>
          <p:nvPr/>
        </p:nvGrpSpPr>
        <p:grpSpPr>
          <a:xfrm>
            <a:off x="746607" y="2926080"/>
            <a:ext cx="10698480" cy="914400"/>
            <a:chOff x="685800" y="2377440"/>
            <a:chExt cx="10698480" cy="914400"/>
          </a:xfrm>
        </p:grpSpPr>
        <p:sp>
          <p:nvSpPr>
            <p:cNvPr id="6" name="Shape 4"/>
            <p:cNvSpPr/>
            <p:nvPr/>
          </p:nvSpPr>
          <p:spPr>
            <a:xfrm>
              <a:off x="68580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79552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키워드 설정</a:t>
              </a:r>
              <a:endParaRPr lang="en-US" sz="17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49631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292608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F4F8FC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3580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URL 수집</a:t>
              </a:r>
              <a:endParaRPr lang="en-US" sz="17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3659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516636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27608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상세 수집</a:t>
              </a:r>
              <a:endParaRPr lang="en-US" sz="17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97687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740664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F4F8FC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51636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전처리</a:t>
              </a:r>
              <a:endParaRPr lang="en-US" sz="17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9217152" y="2651760"/>
              <a:ext cx="329184" cy="310896"/>
            </a:xfrm>
            <a:prstGeom prst="chevron">
              <a:avLst/>
            </a:prstGeom>
            <a:solidFill>
              <a:srgbClr val="2F6FB2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9646920" y="2377440"/>
              <a:ext cx="1737360" cy="914400"/>
            </a:xfrm>
            <a:prstGeom prst="roundRect">
              <a:avLst>
                <a:gd name="adj" fmla="val 5000"/>
              </a:avLst>
            </a:prstGeom>
            <a:solidFill>
              <a:srgbClr val="EAF3FB"/>
            </a:solidFill>
            <a:ln w="12700">
              <a:solidFill>
                <a:srgbClr val="2F6FB2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975664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DB 저장</a:t>
              </a:r>
              <a:endParaRPr lang="en-US" sz="1700" dirty="0"/>
            </a:p>
          </p:txBody>
        </p:sp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61522A58-EBFF-4C74-A855-12A27941D15E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6/35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및 카테고리 표준화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전처리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73952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63A5F"/>
                </a:solidFill>
              </a:rPr>
              <a:t>카테고리</a:t>
            </a:r>
            <a:r>
              <a:rPr lang="en-US" sz="1900" b="1" dirty="0">
                <a:solidFill>
                  <a:srgbClr val="163A5F"/>
                </a:solidFill>
              </a:rPr>
              <a:t> </a:t>
            </a:r>
            <a:r>
              <a:rPr lang="en-US" sz="1900" b="1" dirty="0" err="1">
                <a:solidFill>
                  <a:srgbClr val="163A5F"/>
                </a:solidFill>
              </a:rPr>
              <a:t>리매핑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결측치 및 중복 데이터 확인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리뷰 텍스트 정제와 불용어 처리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메뉴명 및 업종 </a:t>
            </a:r>
            <a:r>
              <a:rPr lang="en-US" sz="1750" dirty="0" err="1">
                <a:solidFill>
                  <a:srgbClr val="1F2937"/>
                </a:solidFill>
              </a:rPr>
              <a:t>표현</a:t>
            </a:r>
            <a:r>
              <a:rPr lang="en-US" sz="1750" dirty="0">
                <a:solidFill>
                  <a:srgbClr val="1F2937"/>
                </a:solidFill>
              </a:rPr>
              <a:t> </a:t>
            </a:r>
            <a:r>
              <a:rPr lang="en-US" sz="1750" dirty="0" err="1">
                <a:solidFill>
                  <a:srgbClr val="1F2937"/>
                </a:solidFill>
              </a:rPr>
              <a:t>통일</a:t>
            </a:r>
            <a:endParaRPr lang="en-US" sz="1750" dirty="0">
              <a:solidFill>
                <a:srgbClr val="1F2937"/>
              </a:solidFill>
            </a:endParaRPr>
          </a:p>
          <a:p>
            <a:pPr marL="177800" indent="-177800">
              <a:buSzPct val="100000"/>
              <a:buFontTx/>
              <a:buChar char="•"/>
            </a:pPr>
            <a:r>
              <a:rPr lang="en-US" altLang="ko-KR" sz="1750" dirty="0" err="1">
                <a:solidFill>
                  <a:srgbClr val="1F2937"/>
                </a:solidFill>
              </a:rPr>
              <a:t>수집된</a:t>
            </a:r>
            <a:r>
              <a:rPr lang="en-US" altLang="ko-KR" sz="1750" dirty="0">
                <a:solidFill>
                  <a:srgbClr val="1F2937"/>
                </a:solidFill>
              </a:rPr>
              <a:t> </a:t>
            </a:r>
            <a:r>
              <a:rPr lang="en-US" altLang="ko-KR" sz="1750" dirty="0" err="1">
                <a:solidFill>
                  <a:srgbClr val="1F2937"/>
                </a:solidFill>
              </a:rPr>
              <a:t>세부</a:t>
            </a:r>
            <a:r>
              <a:rPr lang="en-US" altLang="ko-KR" sz="1750" dirty="0">
                <a:solidFill>
                  <a:srgbClr val="1F2937"/>
                </a:solidFill>
              </a:rPr>
              <a:t> </a:t>
            </a:r>
            <a:r>
              <a:rPr lang="en-US" altLang="ko-KR" sz="1750" dirty="0" err="1">
                <a:solidFill>
                  <a:srgbClr val="1F2937"/>
                </a:solidFill>
              </a:rPr>
              <a:t>카테고리를</a:t>
            </a:r>
            <a:r>
              <a:rPr lang="en-US" altLang="ko-KR" sz="1750" dirty="0">
                <a:solidFill>
                  <a:srgbClr val="1F2937"/>
                </a:solidFill>
              </a:rPr>
              <a:t> </a:t>
            </a:r>
            <a:r>
              <a:rPr lang="en-US" altLang="ko-KR" sz="1750" dirty="0" err="1">
                <a:solidFill>
                  <a:srgbClr val="1F2937"/>
                </a:solidFill>
              </a:rPr>
              <a:t>대표</a:t>
            </a:r>
            <a:r>
              <a:rPr lang="en-US" altLang="ko-KR" sz="1750" dirty="0">
                <a:solidFill>
                  <a:srgbClr val="1F2937"/>
                </a:solidFill>
              </a:rPr>
              <a:t> </a:t>
            </a:r>
            <a:r>
              <a:rPr lang="en-US" altLang="ko-KR" sz="1750" dirty="0" err="1">
                <a:solidFill>
                  <a:srgbClr val="1F2937"/>
                </a:solidFill>
              </a:rPr>
              <a:t>카테고리로</a:t>
            </a:r>
            <a:r>
              <a:rPr lang="en-US" altLang="ko-KR" sz="1750" dirty="0">
                <a:solidFill>
                  <a:srgbClr val="1F2937"/>
                </a:solidFill>
              </a:rPr>
              <a:t> </a:t>
            </a:r>
            <a:r>
              <a:rPr lang="en-US" altLang="ko-KR" sz="1750" dirty="0" err="1">
                <a:solidFill>
                  <a:srgbClr val="1F2937"/>
                </a:solidFill>
              </a:rPr>
              <a:t>통합</a:t>
            </a:r>
            <a:endParaRPr lang="en-US" altLang="ko-KR" sz="1750" dirty="0"/>
          </a:p>
          <a:p>
            <a:pPr marL="177800" indent="-177800">
              <a:buSzPct val="100000"/>
              <a:buChar char="•"/>
            </a:pPr>
            <a:endParaRPr lang="en-US" sz="1750" dirty="0">
              <a:solidFill>
                <a:srgbClr val="1F2937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519672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 err="1">
                <a:solidFill>
                  <a:srgbClr val="1F2937"/>
                </a:solidFill>
              </a:rPr>
              <a:t>한식</a:t>
            </a:r>
            <a:r>
              <a:rPr lang="en-US" sz="1750" dirty="0">
                <a:solidFill>
                  <a:srgbClr val="1F2937"/>
                </a:solidFill>
              </a:rPr>
              <a:t> / 중식 / 일식 / 양식 / 카페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ko-KR" altLang="en-US" sz="1750" dirty="0"/>
              <a:t>봄 </a:t>
            </a:r>
            <a:r>
              <a:rPr lang="en-US" altLang="ko-KR" sz="1750" dirty="0"/>
              <a:t>/ </a:t>
            </a:r>
            <a:r>
              <a:rPr lang="ko-KR" altLang="en-US" sz="1750" dirty="0"/>
              <a:t>여름 </a:t>
            </a:r>
            <a:r>
              <a:rPr lang="en-US" altLang="ko-KR" sz="1750" dirty="0"/>
              <a:t>/ </a:t>
            </a:r>
            <a:r>
              <a:rPr lang="ko-KR" altLang="en-US" sz="1750" dirty="0"/>
              <a:t>가을 </a:t>
            </a:r>
            <a:r>
              <a:rPr lang="en-US" altLang="ko-KR" sz="1750" dirty="0"/>
              <a:t>/ </a:t>
            </a:r>
            <a:r>
              <a:rPr lang="ko-KR" altLang="en-US" sz="1750" dirty="0"/>
              <a:t>겨울</a:t>
            </a:r>
            <a:endParaRPr lang="en-US" altLang="ko-KR" sz="1750" dirty="0"/>
          </a:p>
          <a:p>
            <a:pPr>
              <a:buSzPct val="100000"/>
            </a:pPr>
            <a:r>
              <a:rPr lang="ko-KR" altLang="en-US" sz="1750" dirty="0">
                <a:solidFill>
                  <a:srgbClr val="1F2937"/>
                </a:solidFill>
              </a:rPr>
              <a:t>   </a:t>
            </a:r>
            <a:r>
              <a:rPr lang="en-US" altLang="ko-KR" sz="1750" dirty="0">
                <a:solidFill>
                  <a:srgbClr val="1F2937"/>
                </a:solidFill>
              </a:rPr>
              <a:t>- </a:t>
            </a:r>
            <a:r>
              <a:rPr lang="ko-KR" altLang="en-US" sz="1750" dirty="0">
                <a:solidFill>
                  <a:srgbClr val="1F2937"/>
                </a:solidFill>
              </a:rPr>
              <a:t>수집된 데이터 날짜를 분기별로 분류</a:t>
            </a:r>
            <a:endParaRPr lang="en-US" altLang="ko-KR" sz="1750" dirty="0">
              <a:solidFill>
                <a:srgbClr val="1F2937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ko-KR" altLang="en-US" sz="1750" dirty="0"/>
              <a:t>전북대 </a:t>
            </a:r>
            <a:r>
              <a:rPr lang="en-US" altLang="ko-KR" sz="1750" dirty="0"/>
              <a:t>/ </a:t>
            </a:r>
            <a:r>
              <a:rPr lang="ko-KR" altLang="en-US" sz="1750" dirty="0"/>
              <a:t>객사</a:t>
            </a:r>
            <a:r>
              <a:rPr lang="en-US" altLang="ko-KR" sz="1750" dirty="0"/>
              <a:t> / </a:t>
            </a:r>
            <a:r>
              <a:rPr lang="ko-KR" altLang="en-US" sz="1750" dirty="0"/>
              <a:t>한옥마을 </a:t>
            </a:r>
            <a:r>
              <a:rPr lang="en-US" altLang="ko-KR" sz="1750" dirty="0"/>
              <a:t>/ </a:t>
            </a:r>
            <a:r>
              <a:rPr lang="ko-KR" altLang="en-US" sz="1750" dirty="0"/>
              <a:t>신시가지</a:t>
            </a:r>
            <a:endParaRPr lang="en-US" sz="17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D15F174-F39F-4AB9-8FB1-C862B7835433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7/35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 w="12700">
            <a:solidFill>
              <a:srgbClr val="F5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</a:rPr>
              <a:t>점수화 로직</a:t>
            </a:r>
            <a:endParaRPr lang="en-US" sz="28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9E8DD5C0-9060-428C-B0FC-BC4077E70824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8/35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점수화가 필요한가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0424160" cy="3291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리뷰 수 하나만으로는 실제 만족도를 설명하기 어렵다.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ko-KR" altLang="en-US" sz="2000" dirty="0">
                <a:effectLst/>
              </a:rPr>
              <a:t>맛</a:t>
            </a:r>
            <a:r>
              <a:rPr lang="en-US" altLang="ko-KR" sz="2000" dirty="0">
                <a:effectLst/>
              </a:rPr>
              <a:t>,</a:t>
            </a:r>
            <a:r>
              <a:rPr lang="ko-KR" altLang="en-US" sz="2000" dirty="0">
                <a:effectLst/>
              </a:rPr>
              <a:t>최근성</a:t>
            </a:r>
            <a:r>
              <a:rPr lang="en-US" altLang="ko-KR" sz="2000" dirty="0">
                <a:effectLst/>
              </a:rPr>
              <a:t>,</a:t>
            </a:r>
            <a:r>
              <a:rPr lang="ko-KR" altLang="en-US" sz="2000" dirty="0">
                <a:effectLst/>
              </a:rPr>
              <a:t>편의성</a:t>
            </a:r>
            <a:r>
              <a:rPr lang="en-US" altLang="ko-KR" sz="2000" dirty="0">
                <a:effectLst/>
              </a:rPr>
              <a:t>,</a:t>
            </a:r>
            <a:r>
              <a:rPr lang="ko-KR" altLang="en-US" sz="2000" dirty="0">
                <a:effectLst/>
              </a:rPr>
              <a:t>계절성을 함께 고려해야 한다</a:t>
            </a:r>
            <a:r>
              <a:rPr lang="en-US" sz="2000" dirty="0">
                <a:solidFill>
                  <a:srgbClr val="1F2937"/>
                </a:solidFill>
              </a:rPr>
              <a:t>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따라서 </a:t>
            </a:r>
            <a:r>
              <a:rPr lang="en-US" sz="2000" dirty="0" err="1">
                <a:solidFill>
                  <a:srgbClr val="1F2937"/>
                </a:solidFill>
              </a:rPr>
              <a:t>여러</a:t>
            </a:r>
            <a:r>
              <a:rPr lang="en-US" sz="2000" dirty="0">
                <a:solidFill>
                  <a:srgbClr val="1F2937"/>
                </a:solidFill>
              </a:rPr>
              <a:t> 요</a:t>
            </a:r>
            <a:r>
              <a:rPr lang="ko-KR" altLang="en-US" sz="2000" dirty="0">
                <a:solidFill>
                  <a:srgbClr val="1F2937"/>
                </a:solidFill>
              </a:rPr>
              <a:t>소를</a:t>
            </a:r>
            <a:r>
              <a:rPr lang="en-US" sz="2000" dirty="0">
                <a:solidFill>
                  <a:srgbClr val="1F2937"/>
                </a:solidFill>
              </a:rPr>
              <a:t> </a:t>
            </a:r>
            <a:r>
              <a:rPr lang="ko-KR" altLang="en-US" sz="2000" dirty="0">
                <a:solidFill>
                  <a:srgbClr val="1F2937"/>
                </a:solidFill>
              </a:rPr>
              <a:t>각각</a:t>
            </a:r>
            <a:r>
              <a:rPr lang="en-US" sz="2000" dirty="0">
                <a:solidFill>
                  <a:srgbClr val="1F2937"/>
                </a:solidFill>
              </a:rPr>
              <a:t> 100</a:t>
            </a:r>
            <a:r>
              <a:rPr lang="ko-KR" altLang="en-US" sz="2000" dirty="0">
                <a:solidFill>
                  <a:srgbClr val="1F2937"/>
                </a:solidFill>
              </a:rPr>
              <a:t>점으로 환산 후 가중치를 부여하여</a:t>
            </a:r>
            <a:r>
              <a:rPr lang="en-US" sz="2000" dirty="0">
                <a:solidFill>
                  <a:srgbClr val="1F2937"/>
                </a:solidFill>
              </a:rPr>
              <a:t> </a:t>
            </a:r>
            <a:r>
              <a:rPr lang="ko-KR" altLang="en-US" sz="2000" dirty="0">
                <a:solidFill>
                  <a:srgbClr val="1F2937"/>
                </a:solidFill>
              </a:rPr>
              <a:t>총 </a:t>
            </a:r>
            <a:r>
              <a:rPr lang="en-US" sz="2000" dirty="0">
                <a:solidFill>
                  <a:srgbClr val="1F2937"/>
                </a:solidFill>
              </a:rPr>
              <a:t>100점 기준의 복합 점수 체계를 설계했다.</a:t>
            </a:r>
            <a:endParaRPr lang="en-US" sz="200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4F2827A8-6F08-4547-AE4B-7C065B00A1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9391137"/>
              </p:ext>
            </p:extLst>
          </p:nvPr>
        </p:nvGraphicFramePr>
        <p:xfrm>
          <a:off x="670560" y="2321366"/>
          <a:ext cx="4114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CAE6B743-66F4-4535-9E8A-2F4B340DE214}"/>
              </a:ext>
            </a:extLst>
          </p:cNvPr>
          <p:cNvGrpSpPr/>
          <p:nvPr/>
        </p:nvGrpSpPr>
        <p:grpSpPr>
          <a:xfrm>
            <a:off x="5875020" y="3255263"/>
            <a:ext cx="5669280" cy="2779776"/>
            <a:chOff x="5120640" y="1645920"/>
            <a:chExt cx="5669280" cy="2779776"/>
          </a:xfrm>
        </p:grpSpPr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042AA653-C2EF-4061-AF10-43994BDE4962}"/>
                </a:ext>
              </a:extLst>
            </p:cNvPr>
            <p:cNvSpPr/>
            <p:nvPr/>
          </p:nvSpPr>
          <p:spPr>
            <a:xfrm>
              <a:off x="5120640" y="1645920"/>
              <a:ext cx="1889760" cy="438912"/>
            </a:xfrm>
            <a:prstGeom prst="rect">
              <a:avLst/>
            </a:prstGeom>
            <a:solidFill>
              <a:srgbClr val="163A5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52A45386-1842-4C47-BB76-76E358DD56E2}"/>
                </a:ext>
              </a:extLst>
            </p:cNvPr>
            <p:cNvSpPr/>
            <p:nvPr/>
          </p:nvSpPr>
          <p:spPr>
            <a:xfrm>
              <a:off x="5157216" y="1728216"/>
              <a:ext cx="181660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항목</a:t>
              </a:r>
              <a:endParaRPr lang="en-US" sz="1400" dirty="0"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A0DF9F00-8930-416E-BBBA-8F027CFDD167}"/>
                </a:ext>
              </a:extLst>
            </p:cNvPr>
            <p:cNvSpPr/>
            <p:nvPr/>
          </p:nvSpPr>
          <p:spPr>
            <a:xfrm>
              <a:off x="7010400" y="1645920"/>
              <a:ext cx="1889760" cy="438912"/>
            </a:xfrm>
            <a:prstGeom prst="rect">
              <a:avLst/>
            </a:prstGeom>
            <a:solidFill>
              <a:srgbClr val="163A5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4588BA37-EDF3-4D62-A26D-28EE398CCE09}"/>
                </a:ext>
              </a:extLst>
            </p:cNvPr>
            <p:cNvSpPr/>
            <p:nvPr/>
          </p:nvSpPr>
          <p:spPr>
            <a:xfrm>
              <a:off x="7046976" y="1728216"/>
              <a:ext cx="181660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배점</a:t>
              </a:r>
              <a:endParaRPr lang="en-US" sz="1400" dirty="0"/>
            </a:p>
          </p:txBody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22B2FD96-DD09-4284-8EFF-BB6908102110}"/>
                </a:ext>
              </a:extLst>
            </p:cNvPr>
            <p:cNvSpPr/>
            <p:nvPr/>
          </p:nvSpPr>
          <p:spPr>
            <a:xfrm>
              <a:off x="8900160" y="1645920"/>
              <a:ext cx="1889760" cy="438912"/>
            </a:xfrm>
            <a:prstGeom prst="rect">
              <a:avLst/>
            </a:prstGeom>
            <a:solidFill>
              <a:srgbClr val="163A5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200D8167-FEE2-4474-A6F8-AA7FFE2363B9}"/>
                </a:ext>
              </a:extLst>
            </p:cNvPr>
            <p:cNvSpPr/>
            <p:nvPr/>
          </p:nvSpPr>
          <p:spPr>
            <a:xfrm>
              <a:off x="8936736" y="1728216"/>
              <a:ext cx="181660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설명</a:t>
              </a:r>
              <a:endParaRPr lang="en-US" sz="1400" dirty="0"/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727B9FE7-1704-4DDD-9052-3BF44F2CD5B1}"/>
                </a:ext>
              </a:extLst>
            </p:cNvPr>
            <p:cNvSpPr/>
            <p:nvPr/>
          </p:nvSpPr>
          <p:spPr>
            <a:xfrm>
              <a:off x="5120640" y="2084832"/>
              <a:ext cx="18897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8E6F944D-F319-471A-BBD0-89AA3F70663B}"/>
                </a:ext>
              </a:extLst>
            </p:cNvPr>
            <p:cNvSpPr/>
            <p:nvPr/>
          </p:nvSpPr>
          <p:spPr>
            <a:xfrm>
              <a:off x="5184648" y="2157984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맛 점수</a:t>
              </a:r>
              <a:endParaRPr lang="en-US" sz="1250" dirty="0"/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6FDA9A13-8C9D-49C2-BAE8-DC65DF6A092C}"/>
                </a:ext>
              </a:extLst>
            </p:cNvPr>
            <p:cNvSpPr/>
            <p:nvPr/>
          </p:nvSpPr>
          <p:spPr>
            <a:xfrm>
              <a:off x="7010400" y="2084832"/>
              <a:ext cx="18897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A9633D95-E3F1-4D98-85EF-E6414E92BE84}"/>
                </a:ext>
              </a:extLst>
            </p:cNvPr>
            <p:cNvSpPr/>
            <p:nvPr/>
          </p:nvSpPr>
          <p:spPr>
            <a:xfrm>
              <a:off x="7074408" y="2157984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50</a:t>
              </a:r>
              <a:endParaRPr lang="en-US" sz="1250" dirty="0"/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BC41E9E5-6D48-4831-A505-7824B906E3B0}"/>
                </a:ext>
              </a:extLst>
            </p:cNvPr>
            <p:cNvSpPr/>
            <p:nvPr/>
          </p:nvSpPr>
          <p:spPr>
            <a:xfrm>
              <a:off x="8900160" y="2084832"/>
              <a:ext cx="18897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A15AA3BE-061F-4881-BBA2-6D9AC1E21D56}"/>
                </a:ext>
              </a:extLst>
            </p:cNvPr>
            <p:cNvSpPr/>
            <p:nvPr/>
          </p:nvSpPr>
          <p:spPr>
            <a:xfrm>
              <a:off x="8964168" y="2157984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리뷰 텍스트와 맛 관련 항목 반영</a:t>
              </a:r>
              <a:endParaRPr lang="en-US" sz="1250" dirty="0"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9D935BFB-81D4-40BA-98D3-43DD52EB6AAF}"/>
                </a:ext>
              </a:extLst>
            </p:cNvPr>
            <p:cNvSpPr/>
            <p:nvPr/>
          </p:nvSpPr>
          <p:spPr>
            <a:xfrm>
              <a:off x="5120640" y="2670048"/>
              <a:ext cx="18897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B2FB4B91-93CB-4207-A921-7364ED7FCDD8}"/>
                </a:ext>
              </a:extLst>
            </p:cNvPr>
            <p:cNvSpPr/>
            <p:nvPr/>
          </p:nvSpPr>
          <p:spPr>
            <a:xfrm>
              <a:off x="5184648" y="2743200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최근 3개월 리뷰</a:t>
              </a:r>
              <a:endParaRPr lang="en-US" sz="1250" dirty="0"/>
            </a:p>
          </p:txBody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C5BF62C3-5FD7-462A-A48E-FCFAECAE054F}"/>
                </a:ext>
              </a:extLst>
            </p:cNvPr>
            <p:cNvSpPr/>
            <p:nvPr/>
          </p:nvSpPr>
          <p:spPr>
            <a:xfrm>
              <a:off x="7010400" y="2670048"/>
              <a:ext cx="18897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EE5AFADF-31B8-4143-A5AC-C7542341EE1E}"/>
                </a:ext>
              </a:extLst>
            </p:cNvPr>
            <p:cNvSpPr/>
            <p:nvPr/>
          </p:nvSpPr>
          <p:spPr>
            <a:xfrm>
              <a:off x="7074408" y="2743200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20</a:t>
              </a:r>
              <a:endParaRPr lang="en-US" sz="1250" dirty="0"/>
            </a:p>
          </p:txBody>
        </p:sp>
        <p:sp>
          <p:nvSpPr>
            <p:cNvPr id="27" name="Shape 20">
              <a:extLst>
                <a:ext uri="{FF2B5EF4-FFF2-40B4-BE49-F238E27FC236}">
                  <a16:creationId xmlns:a16="http://schemas.microsoft.com/office/drawing/2014/main" id="{8D671194-8C08-4D4F-8322-66EE794C2DE1}"/>
                </a:ext>
              </a:extLst>
            </p:cNvPr>
            <p:cNvSpPr/>
            <p:nvPr/>
          </p:nvSpPr>
          <p:spPr>
            <a:xfrm>
              <a:off x="8900160" y="2670048"/>
              <a:ext cx="18897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587A3CFD-CDBF-4EB8-959D-56768B8A29D2}"/>
                </a:ext>
              </a:extLst>
            </p:cNvPr>
            <p:cNvSpPr/>
            <p:nvPr/>
          </p:nvSpPr>
          <p:spPr>
            <a:xfrm>
              <a:off x="8964168" y="2743200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현재 만족도 및 최신성 반영</a:t>
              </a:r>
              <a:endParaRPr lang="en-US" sz="1250" dirty="0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9855D942-40B0-4CE2-B878-D419969358D8}"/>
                </a:ext>
              </a:extLst>
            </p:cNvPr>
            <p:cNvSpPr/>
            <p:nvPr/>
          </p:nvSpPr>
          <p:spPr>
            <a:xfrm>
              <a:off x="5120640" y="3255264"/>
              <a:ext cx="18897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528F44F0-CE01-441D-A5F4-F7E7C4E935D0}"/>
                </a:ext>
              </a:extLst>
            </p:cNvPr>
            <p:cNvSpPr/>
            <p:nvPr/>
          </p:nvSpPr>
          <p:spPr>
            <a:xfrm>
              <a:off x="5184648" y="3328416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편의성</a:t>
              </a:r>
              <a:endParaRPr lang="en-US" sz="1250" dirty="0"/>
            </a:p>
          </p:txBody>
        </p:sp>
        <p:sp>
          <p:nvSpPr>
            <p:cNvPr id="31" name="Shape 24">
              <a:extLst>
                <a:ext uri="{FF2B5EF4-FFF2-40B4-BE49-F238E27FC236}">
                  <a16:creationId xmlns:a16="http://schemas.microsoft.com/office/drawing/2014/main" id="{5194EFFA-1831-448D-B704-60A6A9EFA8B0}"/>
                </a:ext>
              </a:extLst>
            </p:cNvPr>
            <p:cNvSpPr/>
            <p:nvPr/>
          </p:nvSpPr>
          <p:spPr>
            <a:xfrm>
              <a:off x="7010400" y="3255264"/>
              <a:ext cx="18897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BB05C668-AA7A-423B-A8FE-229C15F0338E}"/>
                </a:ext>
              </a:extLst>
            </p:cNvPr>
            <p:cNvSpPr/>
            <p:nvPr/>
          </p:nvSpPr>
          <p:spPr>
            <a:xfrm>
              <a:off x="7074408" y="3328416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15</a:t>
              </a:r>
              <a:endParaRPr lang="en-US" sz="1250" dirty="0"/>
            </a:p>
          </p:txBody>
        </p:sp>
        <p:sp>
          <p:nvSpPr>
            <p:cNvPr id="33" name="Shape 26">
              <a:extLst>
                <a:ext uri="{FF2B5EF4-FFF2-40B4-BE49-F238E27FC236}">
                  <a16:creationId xmlns:a16="http://schemas.microsoft.com/office/drawing/2014/main" id="{679662DF-D3B3-4CEF-A756-C04DFE98AC63}"/>
                </a:ext>
              </a:extLst>
            </p:cNvPr>
            <p:cNvSpPr/>
            <p:nvPr/>
          </p:nvSpPr>
          <p:spPr>
            <a:xfrm>
              <a:off x="8900160" y="3255264"/>
              <a:ext cx="1889760" cy="585216"/>
            </a:xfrm>
            <a:prstGeom prst="rect">
              <a:avLst/>
            </a:prstGeom>
            <a:solidFill>
              <a:srgbClr val="F8FBFE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4" name="Text 27">
              <a:extLst>
                <a:ext uri="{FF2B5EF4-FFF2-40B4-BE49-F238E27FC236}">
                  <a16:creationId xmlns:a16="http://schemas.microsoft.com/office/drawing/2014/main" id="{35172937-07AB-4810-BE91-6C5A7CE20F5D}"/>
                </a:ext>
              </a:extLst>
            </p:cNvPr>
            <p:cNvSpPr/>
            <p:nvPr/>
          </p:nvSpPr>
          <p:spPr>
            <a:xfrm>
              <a:off x="8964168" y="3328416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주차·포장·배달 등 이용 편의</a:t>
              </a:r>
              <a:endParaRPr lang="en-US" sz="1250" dirty="0"/>
            </a:p>
          </p:txBody>
        </p:sp>
        <p:sp>
          <p:nvSpPr>
            <p:cNvPr id="35" name="Shape 28">
              <a:extLst>
                <a:ext uri="{FF2B5EF4-FFF2-40B4-BE49-F238E27FC236}">
                  <a16:creationId xmlns:a16="http://schemas.microsoft.com/office/drawing/2014/main" id="{BCC9AA42-F255-4F0C-A619-19ACD6EF8EFC}"/>
                </a:ext>
              </a:extLst>
            </p:cNvPr>
            <p:cNvSpPr/>
            <p:nvPr/>
          </p:nvSpPr>
          <p:spPr>
            <a:xfrm>
              <a:off x="5120640" y="3840480"/>
              <a:ext cx="18897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6" name="Text 29">
              <a:extLst>
                <a:ext uri="{FF2B5EF4-FFF2-40B4-BE49-F238E27FC236}">
                  <a16:creationId xmlns:a16="http://schemas.microsoft.com/office/drawing/2014/main" id="{AE784AC1-EEDD-4953-8BEC-A2C5DF8C0064}"/>
                </a:ext>
              </a:extLst>
            </p:cNvPr>
            <p:cNvSpPr/>
            <p:nvPr/>
          </p:nvSpPr>
          <p:spPr>
            <a:xfrm>
              <a:off x="5184648" y="3913632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계절 적합성</a:t>
              </a:r>
              <a:endParaRPr lang="en-US" sz="1250" dirty="0"/>
            </a:p>
          </p:txBody>
        </p:sp>
        <p:sp>
          <p:nvSpPr>
            <p:cNvPr id="37" name="Shape 30">
              <a:extLst>
                <a:ext uri="{FF2B5EF4-FFF2-40B4-BE49-F238E27FC236}">
                  <a16:creationId xmlns:a16="http://schemas.microsoft.com/office/drawing/2014/main" id="{D2FF1255-3372-44AD-8936-5294BB44329D}"/>
                </a:ext>
              </a:extLst>
            </p:cNvPr>
            <p:cNvSpPr/>
            <p:nvPr/>
          </p:nvSpPr>
          <p:spPr>
            <a:xfrm>
              <a:off x="7010400" y="3840480"/>
              <a:ext cx="18897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38" name="Text 31">
              <a:extLst>
                <a:ext uri="{FF2B5EF4-FFF2-40B4-BE49-F238E27FC236}">
                  <a16:creationId xmlns:a16="http://schemas.microsoft.com/office/drawing/2014/main" id="{72BC4733-6DB5-4BF6-87E7-3CC3F26AC0BA}"/>
                </a:ext>
              </a:extLst>
            </p:cNvPr>
            <p:cNvSpPr/>
            <p:nvPr/>
          </p:nvSpPr>
          <p:spPr>
            <a:xfrm>
              <a:off x="7074408" y="3913632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15</a:t>
              </a:r>
              <a:endParaRPr lang="en-US" sz="1250" dirty="0"/>
            </a:p>
          </p:txBody>
        </p:sp>
        <p:sp>
          <p:nvSpPr>
            <p:cNvPr id="39" name="Shape 32">
              <a:extLst>
                <a:ext uri="{FF2B5EF4-FFF2-40B4-BE49-F238E27FC236}">
                  <a16:creationId xmlns:a16="http://schemas.microsoft.com/office/drawing/2014/main" id="{3E9FD7BB-7904-4749-9925-D4793996CCED}"/>
                </a:ext>
              </a:extLst>
            </p:cNvPr>
            <p:cNvSpPr/>
            <p:nvPr/>
          </p:nvSpPr>
          <p:spPr>
            <a:xfrm>
              <a:off x="8900160" y="3840480"/>
              <a:ext cx="1889760" cy="585216"/>
            </a:xfrm>
            <a:prstGeom prst="rect">
              <a:avLst/>
            </a:prstGeom>
            <a:solidFill>
              <a:srgbClr val="EEF4FA"/>
            </a:solidFill>
            <a:ln w="12700">
              <a:solidFill>
                <a:srgbClr val="D9E3EF"/>
              </a:solidFill>
              <a:prstDash val="solid"/>
            </a:ln>
          </p:spPr>
        </p:sp>
        <p:sp>
          <p:nvSpPr>
            <p:cNvPr id="40" name="Text 33">
              <a:extLst>
                <a:ext uri="{FF2B5EF4-FFF2-40B4-BE49-F238E27FC236}">
                  <a16:creationId xmlns:a16="http://schemas.microsoft.com/office/drawing/2014/main" id="{11F94456-497A-4666-AF68-71041A1B66CD}"/>
                </a:ext>
              </a:extLst>
            </p:cNvPr>
            <p:cNvSpPr/>
            <p:nvPr/>
          </p:nvSpPr>
          <p:spPr>
            <a:xfrm>
              <a:off x="8964168" y="3913632"/>
              <a:ext cx="1761744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</a:rPr>
                <a:t>계절 리뷰 비율과 키워드 반영</a:t>
              </a:r>
              <a:endParaRPr lang="en-US" sz="1250" dirty="0"/>
            </a:p>
          </p:txBody>
        </p:sp>
      </p:grpSp>
      <p:sp>
        <p:nvSpPr>
          <p:cNvPr id="41" name="Text 6">
            <a:extLst>
              <a:ext uri="{FF2B5EF4-FFF2-40B4-BE49-F238E27FC236}">
                <a16:creationId xmlns:a16="http://schemas.microsoft.com/office/drawing/2014/main" id="{A1C63BF7-EB37-41CE-82C4-03298F709862}"/>
              </a:ext>
            </a:extLst>
          </p:cNvPr>
          <p:cNvSpPr/>
          <p:nvPr/>
        </p:nvSpPr>
        <p:spPr>
          <a:xfrm>
            <a:off x="562356" y="2733045"/>
            <a:ext cx="3840480" cy="189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(100점 </a:t>
            </a:r>
            <a:r>
              <a:rPr lang="en-US" altLang="ko-KR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200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932C32FB-2D85-4AD7-99B9-44709A394006}"/>
              </a:ext>
            </a:extLst>
          </p:cNvPr>
          <p:cNvSpPr/>
          <p:nvPr/>
        </p:nvSpPr>
        <p:spPr>
          <a:xfrm>
            <a:off x="507492" y="3041451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056BB3F1-947E-40C2-AD3A-5910D18D2BF8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/>
              <a:t>1</a:t>
            </a:r>
            <a:r>
              <a:rPr lang="en-US" altLang="ko-KR" sz="850" dirty="0"/>
              <a:t>9/35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점수 산정 방식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105156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리뷰 텍스트의 긍정/부정 표현을 바탕으로 맛 관련 만족도를 평가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1F2937"/>
                </a:solidFill>
              </a:rPr>
              <a:t>방문자</a:t>
            </a:r>
            <a:r>
              <a:rPr lang="en-US" sz="1900" dirty="0">
                <a:solidFill>
                  <a:srgbClr val="1F2937"/>
                </a:solidFill>
              </a:rPr>
              <a:t> 리뷰와 블로그 리뷰를 함께 </a:t>
            </a:r>
            <a:r>
              <a:rPr lang="en-US" sz="1900" dirty="0" err="1">
                <a:solidFill>
                  <a:srgbClr val="1F2937"/>
                </a:solidFill>
              </a:rPr>
              <a:t>참고하여</a:t>
            </a:r>
            <a:r>
              <a:rPr lang="en-US" sz="1900" dirty="0">
                <a:solidFill>
                  <a:srgbClr val="1F2937"/>
                </a:solidFill>
              </a:rPr>
              <a:t> </a:t>
            </a:r>
            <a:r>
              <a:rPr lang="ko-KR" altLang="en-US" sz="1900" dirty="0"/>
              <a:t>설계</a:t>
            </a:r>
            <a:endParaRPr lang="en-US" sz="1900" dirty="0">
              <a:solidFill>
                <a:srgbClr val="FF0000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맛집 추천의 본질이 “맛”이라고 판단하여 가장 높은 가중치를 부여</a:t>
            </a:r>
            <a:endParaRPr lang="en-US" sz="19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C3D38C3A-5A21-4C5E-8493-4033FEF28A0B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20/35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리뷰 반영 방식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반영 이유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73952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반영 방식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 err="1">
                <a:solidFill>
                  <a:srgbClr val="1F2937"/>
                </a:solidFill>
              </a:rPr>
              <a:t>과거</a:t>
            </a:r>
            <a:r>
              <a:rPr lang="en-US" sz="1750" dirty="0">
                <a:solidFill>
                  <a:srgbClr val="1F2937"/>
                </a:solidFill>
              </a:rPr>
              <a:t> </a:t>
            </a:r>
            <a:r>
              <a:rPr lang="ko-KR" altLang="en-US" sz="1750" dirty="0">
                <a:solidFill>
                  <a:srgbClr val="1F2937"/>
                </a:solidFill>
              </a:rPr>
              <a:t>맛집</a:t>
            </a:r>
            <a:r>
              <a:rPr lang="en-US" sz="1750" dirty="0">
                <a:solidFill>
                  <a:srgbClr val="1F2937"/>
                </a:solidFill>
              </a:rPr>
              <a:t>과 </a:t>
            </a:r>
            <a:r>
              <a:rPr lang="en-US" sz="1750" dirty="0" err="1">
                <a:solidFill>
                  <a:srgbClr val="1F2937"/>
                </a:solidFill>
              </a:rPr>
              <a:t>현재</a:t>
            </a:r>
            <a:r>
              <a:rPr lang="en-US" sz="1750" dirty="0">
                <a:solidFill>
                  <a:srgbClr val="1F2937"/>
                </a:solidFill>
              </a:rPr>
              <a:t> </a:t>
            </a:r>
            <a:r>
              <a:rPr lang="ko-KR" altLang="en-US" sz="1750" dirty="0">
                <a:solidFill>
                  <a:srgbClr val="1F2937"/>
                </a:solidFill>
              </a:rPr>
              <a:t>맛</a:t>
            </a:r>
            <a:r>
              <a:rPr lang="en-US" sz="1750" dirty="0" err="1">
                <a:solidFill>
                  <a:srgbClr val="1F2937"/>
                </a:solidFill>
              </a:rPr>
              <a:t>집을</a:t>
            </a:r>
            <a:r>
              <a:rPr lang="en-US" sz="1750" dirty="0">
                <a:solidFill>
                  <a:srgbClr val="1F2937"/>
                </a:solidFill>
              </a:rPr>
              <a:t> 구분하기 위해 필요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최근에도 좋은 평가를 받는지 확인 가능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19672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최근 3개월 리뷰를 별도로 집계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긍정 비율과 수를 기준으로 </a:t>
            </a:r>
            <a:r>
              <a:rPr lang="en-US" sz="1750" dirty="0" err="1">
                <a:solidFill>
                  <a:srgbClr val="1F2937"/>
                </a:solidFill>
              </a:rPr>
              <a:t>가점</a:t>
            </a:r>
            <a:r>
              <a:rPr lang="en-US" sz="1750" dirty="0">
                <a:solidFill>
                  <a:srgbClr val="1F2937"/>
                </a:solidFill>
              </a:rPr>
              <a:t> </a:t>
            </a:r>
            <a:r>
              <a:rPr lang="en-US" sz="1750" dirty="0" err="1">
                <a:solidFill>
                  <a:srgbClr val="1F2937"/>
                </a:solidFill>
              </a:rPr>
              <a:t>부여</a:t>
            </a:r>
            <a:endParaRPr lang="en-US" sz="1750" dirty="0">
              <a:solidFill>
                <a:srgbClr val="1F2937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A02DB57-4D1B-4856-9B4C-94F6C4A4A799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21/35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편의성 점수 반영 방식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54480"/>
            <a:ext cx="507492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636776"/>
            <a:ext cx="5001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항목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554480"/>
            <a:ext cx="507492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25896" y="1636776"/>
            <a:ext cx="5001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반영 예시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1993392"/>
            <a:ext cx="507492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066544"/>
            <a:ext cx="4946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 err="1">
                <a:solidFill>
                  <a:srgbClr val="1F2937"/>
                </a:solidFill>
              </a:rPr>
              <a:t>주차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993392"/>
            <a:ext cx="507492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2066544"/>
            <a:ext cx="4946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주차 가능 여부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2578608"/>
            <a:ext cx="507492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651760"/>
            <a:ext cx="4946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이용 형태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2578608"/>
            <a:ext cx="507492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2651760"/>
            <a:ext cx="4946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단체 이용 가능, 예약 가능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3163824"/>
            <a:ext cx="507492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236976"/>
            <a:ext cx="4946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주문 방식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3163824"/>
            <a:ext cx="507492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3236976"/>
            <a:ext cx="4946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포장, 배달 가능 여부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3749040"/>
            <a:ext cx="507492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822192"/>
            <a:ext cx="4946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가족 편의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3749040"/>
            <a:ext cx="507492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3822192"/>
            <a:ext cx="4946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유아의자 등 추가 편의 요소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0120" y="46634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맛보다 우선순위는 낮지만 실제 방문 결정에 영향을 주는 요소로 판단하여 15점을 배</a:t>
            </a:r>
            <a:r>
              <a:rPr lang="ko-KR" altLang="en-US" sz="1600" dirty="0">
                <a:solidFill>
                  <a:srgbClr val="1F2937"/>
                </a:solidFill>
              </a:rPr>
              <a:t>정</a:t>
            </a:r>
            <a:r>
              <a:rPr lang="en-US" sz="1600" dirty="0">
                <a:solidFill>
                  <a:srgbClr val="1F2937"/>
                </a:solidFill>
              </a:rPr>
              <a:t>.</a:t>
            </a:r>
            <a:endParaRPr lang="en-US" sz="16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54F858CD-B6A1-41F7-AD74-7B9EF6EA9420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22/35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적합성 산정 방식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4754880" cy="3383280"/>
          </a:xfrm>
          <a:prstGeom prst="roundRect">
            <a:avLst>
              <a:gd name="adj" fmla="val 135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276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</a:rPr>
              <a:t>반영 요소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206240" cy="2194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A: 해당 계절 리뷰 수 / 연간 총 리뷰 수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B: 메뉴명에 계절 키워드 포함 여부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C: 리뷰 본문 내 계절 관련 언급 비율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897880" y="1691640"/>
            <a:ext cx="53035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F6F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2677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B2"/>
                </a:solidFill>
              </a:rPr>
              <a:t>Season = (A × 0.5) + (B × 0.3) + (C × 0.2)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89320" y="3886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계절성은 본 프로젝트의 핵심 차별화 요소로, 단순 인기순 추천과 구분되는 기준이다.</a:t>
            </a:r>
            <a:endParaRPr lang="en-US" sz="1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75A8DDB-4998-4719-8B02-C4EB37EA8261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23/35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 w="12700">
            <a:solidFill>
              <a:srgbClr val="F5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</a:rPr>
              <a:t>서비스 구현</a:t>
            </a:r>
            <a:endParaRPr lang="en-US" sz="28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51BC5810-BD88-4107-B3AC-749ED8912067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24/35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전체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1502BBE-B93C-4876-913B-53C0EAD2A588}"/>
              </a:ext>
            </a:extLst>
          </p:cNvPr>
          <p:cNvGrpSpPr/>
          <p:nvPr/>
        </p:nvGrpSpPr>
        <p:grpSpPr>
          <a:xfrm>
            <a:off x="548640" y="3200400"/>
            <a:ext cx="10698480" cy="914400"/>
            <a:chOff x="685800" y="2377440"/>
            <a:chExt cx="10698480" cy="914400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6F9D460-AABE-4895-B1B3-1CE794AB223C}"/>
                </a:ext>
              </a:extLst>
            </p:cNvPr>
            <p:cNvGrpSpPr/>
            <p:nvPr/>
          </p:nvGrpSpPr>
          <p:grpSpPr>
            <a:xfrm>
              <a:off x="685800" y="2377440"/>
              <a:ext cx="10698480" cy="914400"/>
              <a:chOff x="685800" y="2377440"/>
              <a:chExt cx="10698480" cy="91440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685800" y="2377440"/>
                <a:ext cx="1737360" cy="914400"/>
              </a:xfrm>
              <a:prstGeom prst="roundRect">
                <a:avLst>
                  <a:gd name="adj" fmla="val 5000"/>
                </a:avLst>
              </a:prstGeom>
              <a:solidFill>
                <a:srgbClr val="EAF3FB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  <p:sp>
            <p:nvSpPr>
              <p:cNvPr id="7" name="Text 5"/>
              <p:cNvSpPr/>
              <p:nvPr/>
            </p:nvSpPr>
            <p:spPr>
              <a:xfrm>
                <a:off x="795528" y="2633472"/>
                <a:ext cx="1517904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700" b="1" dirty="0">
                    <a:solidFill>
                      <a:srgbClr val="163A5F"/>
                    </a:solidFill>
                  </a:rPr>
                  <a:t>크롤링</a:t>
                </a:r>
                <a:endParaRPr lang="en-US" sz="1700" dirty="0"/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2496312" y="2651760"/>
                <a:ext cx="329184" cy="310896"/>
              </a:xfrm>
              <a:prstGeom prst="chevron">
                <a:avLst/>
              </a:prstGeom>
              <a:solidFill>
                <a:srgbClr val="2F6FB2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  <p:sp>
            <p:nvSpPr>
              <p:cNvPr id="9" name="Shape 7"/>
              <p:cNvSpPr/>
              <p:nvPr/>
            </p:nvSpPr>
            <p:spPr>
              <a:xfrm>
                <a:off x="2926080" y="2377440"/>
                <a:ext cx="1737360" cy="914400"/>
              </a:xfrm>
              <a:prstGeom prst="roundRect">
                <a:avLst>
                  <a:gd name="adj" fmla="val 5000"/>
                </a:avLst>
              </a:prstGeom>
              <a:solidFill>
                <a:srgbClr val="F4F8FC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  <p:sp>
            <p:nvSpPr>
              <p:cNvPr id="10" name="Text 8"/>
              <p:cNvSpPr/>
              <p:nvPr/>
            </p:nvSpPr>
            <p:spPr>
              <a:xfrm>
                <a:off x="3035808" y="2633472"/>
                <a:ext cx="1517904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700" b="1" dirty="0">
                    <a:solidFill>
                      <a:srgbClr val="163A5F"/>
                    </a:solidFill>
                  </a:rPr>
                  <a:t>DB</a:t>
                </a:r>
                <a:r>
                  <a:rPr lang="ko-KR" altLang="en-US" sz="1700" b="1" dirty="0">
                    <a:solidFill>
                      <a:srgbClr val="163A5F"/>
                    </a:solidFill>
                  </a:rPr>
                  <a:t>저장</a:t>
                </a:r>
                <a:endParaRPr lang="en-US" sz="1700" dirty="0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4736592" y="2651760"/>
                <a:ext cx="329184" cy="310896"/>
              </a:xfrm>
              <a:prstGeom prst="chevron">
                <a:avLst/>
              </a:prstGeom>
              <a:solidFill>
                <a:srgbClr val="2F6FB2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  <p:sp>
            <p:nvSpPr>
              <p:cNvPr id="12" name="Shape 10"/>
              <p:cNvSpPr/>
              <p:nvPr/>
            </p:nvSpPr>
            <p:spPr>
              <a:xfrm>
                <a:off x="5166360" y="2377440"/>
                <a:ext cx="1737360" cy="914400"/>
              </a:xfrm>
              <a:prstGeom prst="roundRect">
                <a:avLst>
                  <a:gd name="adj" fmla="val 5000"/>
                </a:avLst>
              </a:prstGeom>
              <a:solidFill>
                <a:srgbClr val="EAF3FB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5276088" y="2633472"/>
                <a:ext cx="1517904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ko-KR" altLang="en-US" sz="1700" b="1" dirty="0" err="1">
                    <a:solidFill>
                      <a:srgbClr val="163A5F"/>
                    </a:solidFill>
                  </a:rPr>
                  <a:t>전처리</a:t>
                </a:r>
                <a:endParaRPr lang="en-US" sz="1700" dirty="0"/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6976872" y="2651760"/>
                <a:ext cx="329184" cy="310896"/>
              </a:xfrm>
              <a:prstGeom prst="chevron">
                <a:avLst/>
              </a:prstGeom>
              <a:solidFill>
                <a:srgbClr val="2F6FB2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  <p:sp>
            <p:nvSpPr>
              <p:cNvPr id="15" name="Shape 13"/>
              <p:cNvSpPr/>
              <p:nvPr/>
            </p:nvSpPr>
            <p:spPr>
              <a:xfrm>
                <a:off x="7406640" y="2377440"/>
                <a:ext cx="1737360" cy="914400"/>
              </a:xfrm>
              <a:prstGeom prst="roundRect">
                <a:avLst>
                  <a:gd name="adj" fmla="val 5000"/>
                </a:avLst>
              </a:prstGeom>
              <a:solidFill>
                <a:srgbClr val="F4F8FC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  <p:sp>
            <p:nvSpPr>
              <p:cNvPr id="16" name="Text 14"/>
              <p:cNvSpPr/>
              <p:nvPr/>
            </p:nvSpPr>
            <p:spPr>
              <a:xfrm>
                <a:off x="7516368" y="2633472"/>
                <a:ext cx="1517904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700" b="1" dirty="0">
                    <a:solidFill>
                      <a:srgbClr val="163A5F"/>
                    </a:solidFill>
                  </a:rPr>
                  <a:t>점수 계산</a:t>
                </a:r>
                <a:endParaRPr lang="en-US" sz="1700" dirty="0"/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9217152" y="2651760"/>
                <a:ext cx="329184" cy="310896"/>
              </a:xfrm>
              <a:prstGeom prst="chevron">
                <a:avLst/>
              </a:prstGeom>
              <a:solidFill>
                <a:srgbClr val="2F6FB2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  <p:sp>
            <p:nvSpPr>
              <p:cNvPr id="18" name="Shape 16"/>
              <p:cNvSpPr/>
              <p:nvPr/>
            </p:nvSpPr>
            <p:spPr>
              <a:xfrm>
                <a:off x="9646920" y="2377440"/>
                <a:ext cx="1737360" cy="914400"/>
              </a:xfrm>
              <a:prstGeom prst="roundRect">
                <a:avLst>
                  <a:gd name="adj" fmla="val 5000"/>
                </a:avLst>
              </a:prstGeom>
              <a:solidFill>
                <a:srgbClr val="EAF3FB"/>
              </a:solidFill>
              <a:ln w="12700">
                <a:solidFill>
                  <a:srgbClr val="2F6FB2"/>
                </a:solidFill>
                <a:prstDash val="solid"/>
              </a:ln>
            </p:spPr>
          </p:sp>
        </p:grpSp>
        <p:sp>
          <p:nvSpPr>
            <p:cNvPr id="19" name="Text 17"/>
            <p:cNvSpPr/>
            <p:nvPr/>
          </p:nvSpPr>
          <p:spPr>
            <a:xfrm>
              <a:off x="9756648" y="2633472"/>
              <a:ext cx="151790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63A5F"/>
                  </a:solidFill>
                </a:rPr>
                <a:t>웹 출력</a:t>
              </a:r>
              <a:endParaRPr lang="en-US" sz="1700" dirty="0"/>
            </a:p>
          </p:txBody>
        </p:sp>
      </p:grpSp>
      <p:sp>
        <p:nvSpPr>
          <p:cNvPr id="24" name="Text 10">
            <a:extLst>
              <a:ext uri="{FF2B5EF4-FFF2-40B4-BE49-F238E27FC236}">
                <a16:creationId xmlns:a16="http://schemas.microsoft.com/office/drawing/2014/main" id="{303E2361-C594-4A7F-BDCB-8931CFCC0486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25/35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1031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화면 요구사항 정리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CE8FF"/>
                </a:solidFill>
              </a:rPr>
              <a:t>통합 정리본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29844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메인 페이지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1591056"/>
            <a:ext cx="3273552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감성 분석 평점 60점 이상 맛집 리스트 표시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노출 항목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업체명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점수/별점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리뷰 수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대표 메뉴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대표 이미지 1개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편의 정보 일부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197109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EEF7F1"/>
          </a:solidFill>
          <a:ln w="12700">
            <a:solidFill>
              <a:srgbClr val="EEF7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9704" y="129844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685C"/>
                </a:solidFill>
              </a:rPr>
              <a:t>검색 / 필터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9704" y="1591056"/>
            <a:ext cx="3273552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검색 대상: 업체명, 메뉴명, </a:t>
            </a:r>
            <a:r>
              <a:rPr lang="ko-KR" altLang="en-US" sz="1250" dirty="0">
                <a:solidFill>
                  <a:srgbClr val="222222"/>
                </a:solidFill>
              </a:rPr>
              <a:t>지역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필터 기준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카테고리: 한식 / 중식 / 일식 / 양식 / 카페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지역: 전북대 / </a:t>
            </a:r>
            <a:r>
              <a:rPr lang="en-US" sz="1250" dirty="0" err="1">
                <a:solidFill>
                  <a:srgbClr val="222222"/>
                </a:solidFill>
              </a:rPr>
              <a:t>객사</a:t>
            </a:r>
            <a:r>
              <a:rPr lang="en-US" sz="1250" dirty="0">
                <a:solidFill>
                  <a:srgbClr val="222222"/>
                </a:solidFill>
              </a:rPr>
              <a:t> </a:t>
            </a:r>
            <a:r>
              <a:rPr lang="en-US" altLang="ko-KR" sz="1250" dirty="0">
                <a:solidFill>
                  <a:srgbClr val="222222"/>
                </a:solidFill>
              </a:rPr>
              <a:t>/ </a:t>
            </a:r>
            <a:r>
              <a:rPr lang="ko-KR" altLang="en-US" sz="1250" dirty="0">
                <a:solidFill>
                  <a:srgbClr val="222222"/>
                </a:solidFill>
              </a:rPr>
              <a:t>한옥마을 </a:t>
            </a:r>
            <a:r>
              <a:rPr lang="en-US" sz="1250" dirty="0">
                <a:solidFill>
                  <a:srgbClr val="222222"/>
                </a:solidFill>
              </a:rPr>
              <a:t>/ 신시가지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- 계절: 봄 / 여름 / 가을 / </a:t>
            </a:r>
            <a:r>
              <a:rPr lang="en-US" sz="1250" dirty="0" err="1">
                <a:solidFill>
                  <a:srgbClr val="222222"/>
                </a:solidFill>
              </a:rPr>
              <a:t>겨울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정렬: 평점순, 리뷰 많은 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298448"/>
            <a:ext cx="3227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5B00"/>
                </a:solidFill>
              </a:rPr>
              <a:t>상세 페이지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3024" y="1591056"/>
            <a:ext cx="3227832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업체명, 감성분석 기반 평점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전화번호, 영업시간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메뉴 정보, 리뷰 요약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업체 소개, </a:t>
            </a:r>
            <a:r>
              <a:rPr lang="en-US" sz="1250" dirty="0" err="1">
                <a:solidFill>
                  <a:srgbClr val="222222"/>
                </a:solidFill>
              </a:rPr>
              <a:t>편의</a:t>
            </a:r>
            <a:r>
              <a:rPr lang="en-US" sz="1250" dirty="0">
                <a:solidFill>
                  <a:srgbClr val="222222"/>
                </a:solidFill>
              </a:rPr>
              <a:t> </a:t>
            </a:r>
            <a:r>
              <a:rPr lang="en-US" sz="1250" dirty="0" err="1">
                <a:solidFill>
                  <a:srgbClr val="222222"/>
                </a:solidFill>
              </a:rPr>
              <a:t>정보</a:t>
            </a:r>
            <a:r>
              <a:rPr lang="en-US" sz="1250" dirty="0">
                <a:solidFill>
                  <a:srgbClr val="222222"/>
                </a:solidFill>
              </a:rPr>
              <a:t>(</a:t>
            </a:r>
            <a:r>
              <a:rPr lang="ko-KR" altLang="en-US" sz="1250" dirty="0">
                <a:solidFill>
                  <a:srgbClr val="222222"/>
                </a:solidFill>
              </a:rPr>
              <a:t>주차 가능</a:t>
            </a:r>
            <a:r>
              <a:rPr lang="en-US" altLang="ko-KR" sz="1250" dirty="0">
                <a:solidFill>
                  <a:srgbClr val="222222"/>
                </a:solidFill>
              </a:rPr>
              <a:t>, </a:t>
            </a:r>
            <a:r>
              <a:rPr lang="ko-KR" altLang="en-US" sz="1250" dirty="0" err="1">
                <a:solidFill>
                  <a:srgbClr val="222222"/>
                </a:solidFill>
              </a:rPr>
              <a:t>윺아</a:t>
            </a:r>
            <a:r>
              <a:rPr lang="ko-KR" altLang="en-US" sz="1250" dirty="0">
                <a:solidFill>
                  <a:srgbClr val="222222"/>
                </a:solidFill>
              </a:rPr>
              <a:t> 의자</a:t>
            </a:r>
            <a:r>
              <a:rPr lang="en-US" sz="1250" dirty="0">
                <a:solidFill>
                  <a:srgbClr val="222222"/>
                </a:solidFill>
              </a:rPr>
              <a:t>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• 이미지 기본 3개 + 추가 보기 버튼</a:t>
            </a:r>
            <a:endParaRPr lang="en-US" sz="1250" dirty="0"/>
          </a:p>
          <a:p>
            <a:pPr marL="0" indent="0">
              <a:buNone/>
            </a:pPr>
            <a:r>
              <a:rPr lang="en-US" altLang="ko-KR" sz="1250" dirty="0">
                <a:solidFill>
                  <a:srgbClr val="222222"/>
                </a:solidFill>
              </a:rPr>
              <a:t>• </a:t>
            </a:r>
            <a:r>
              <a:rPr lang="ko-KR" altLang="en-US" sz="1250" dirty="0">
                <a:solidFill>
                  <a:srgbClr val="222222"/>
                </a:solidFill>
              </a:rPr>
              <a:t>분석결과</a:t>
            </a:r>
            <a:endParaRPr lang="en-US" sz="12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08B465F-4430-4F67-BC2F-F3485946EA10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26/35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567747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정의서 구성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EDEC916-4561-4F02-9510-F7DFB2298404}"/>
              </a:ext>
            </a:extLst>
          </p:cNvPr>
          <p:cNvSpPr/>
          <p:nvPr/>
        </p:nvSpPr>
        <p:spPr>
          <a:xfrm>
            <a:off x="5897881" y="2011680"/>
            <a:ext cx="5303520" cy="32689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endParaRPr lang="en-US" altLang="ko-KR" sz="2000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6C34EA8-540E-4916-B6CE-419B53023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037755"/>
              </p:ext>
            </p:extLst>
          </p:nvPr>
        </p:nvGraphicFramePr>
        <p:xfrm>
          <a:off x="7469837" y="548641"/>
          <a:ext cx="4705286" cy="6016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9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727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DEVELOP</a:t>
                      </a:r>
                      <a:r>
                        <a:rPr lang="en-US" altLang="ko-KR" sz="6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Description</a:t>
                      </a:r>
                      <a:endParaRPr lang="ko-KR" altLang="en-US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7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A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카테고리</a:t>
                      </a:r>
                      <a:r>
                        <a:rPr lang="en-US" alt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,</a:t>
                      </a:r>
                      <a:r>
                        <a:rPr lang="ko-KR" altLang="en-US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계절</a:t>
                      </a:r>
                      <a:r>
                        <a:rPr lang="en-US" alt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장소를</a:t>
                      </a:r>
                      <a:r>
                        <a:rPr lang="en-US" alt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지정하여</a:t>
                      </a:r>
                      <a:r>
                        <a:rPr lang="en-US" alt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특정</a:t>
                      </a:r>
                      <a:r>
                        <a:rPr lang="en-US" alt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내용만</a:t>
                      </a:r>
                      <a:r>
                        <a:rPr lang="en-US" alt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선택하여</a:t>
                      </a:r>
                      <a:r>
                        <a:rPr lang="en-US" alt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</a:t>
                      </a:r>
                      <a:r>
                        <a:rPr lang="en-US" altLang="ko-KR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가능</a:t>
                      </a:r>
                      <a:endParaRPr lang="en-US" altLang="ko-KR" sz="1200" b="0" i="0" u="none" strike="noStrike" baseline="0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6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-통합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검색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기능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: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업체명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메뉴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위치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특정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단어가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포함된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내역을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검색</a:t>
                      </a:r>
                      <a:endParaRPr lang="ko-KR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-구현시 placeholder로 업체명, 메뉴, 장소 키워드 제시</a:t>
                      </a:r>
                      <a:endParaRPr lang="ko-KR"/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endParaRPr lang="ko-KR" altLang="en-US" sz="10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정렬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기능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: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리뷰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많은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순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평점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높은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순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86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결과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제공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: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필터링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및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검색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조건이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변경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될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때마다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실시간으로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리스트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동적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업데이트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조회</a:t>
                      </a: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안했을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때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사이트에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막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들어왔을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때) :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평점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순으로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가로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2개 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리스트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표시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32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000"/>
                        </a:lnSpc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감성 분석으로 구한 평점 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60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점 이상의 맛집을 리스트에 표시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ts val="2000"/>
                        </a:lnSpc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리스트에는 </a:t>
                      </a:r>
                      <a:r>
                        <a:rPr lang="ko-KR" altLang="en-US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별점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리뷰 수 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카테고리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이미지 기본 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개,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편의성 항목들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유아의자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콜키지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가능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등),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주소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en-US" altLang="ko-KR" sz="12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전화번호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ts val="2000"/>
                        </a:lnSpc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편의성 항목들은 지도 정보 탭에서 추출해서 표시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0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en-US" altLang="ko-KR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추가적인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리스트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내역들은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스크롤로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내려서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Malgun Gothic"/>
                          <a:ea typeface="Malgun Gothic"/>
                        </a:rPr>
                        <a:t>구현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810B8395-6AC8-4F77-A159-2BB5A64D63EA}"/>
              </a:ext>
            </a:extLst>
          </p:cNvPr>
          <p:cNvGrpSpPr/>
          <p:nvPr/>
        </p:nvGrpSpPr>
        <p:grpSpPr>
          <a:xfrm>
            <a:off x="1104675" y="1016174"/>
            <a:ext cx="388720" cy="200055"/>
            <a:chOff x="4727047" y="5307508"/>
            <a:chExt cx="388720" cy="20005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A2BB469-3C41-4E35-9F33-CBB71BDBF8AA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TextBox 27">
              <a:extLst>
                <a:ext uri="{FF2B5EF4-FFF2-40B4-BE49-F238E27FC236}">
                  <a16:creationId xmlns:a16="http://schemas.microsoft.com/office/drawing/2014/main" id="{B79D18DC-AF01-4BB3-BE48-E52E91929EA7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20D670C-10F0-4509-ACF2-C73831D28ED4}"/>
              </a:ext>
            </a:extLst>
          </p:cNvPr>
          <p:cNvGrpSpPr/>
          <p:nvPr/>
        </p:nvGrpSpPr>
        <p:grpSpPr>
          <a:xfrm>
            <a:off x="5951501" y="1008186"/>
            <a:ext cx="388720" cy="200055"/>
            <a:chOff x="4727047" y="5307508"/>
            <a:chExt cx="388720" cy="200055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ADB9C061-628F-485B-BF0A-525AF42B9F90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5" name="TextBox 27">
              <a:extLst>
                <a:ext uri="{FF2B5EF4-FFF2-40B4-BE49-F238E27FC236}">
                  <a16:creationId xmlns:a16="http://schemas.microsoft.com/office/drawing/2014/main" id="{67A2BD34-17D5-4F6D-AB70-0D6D22436848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8D22649-AD0B-4F77-A49F-D63B9F1EAAD1}"/>
              </a:ext>
            </a:extLst>
          </p:cNvPr>
          <p:cNvSpPr txBox="1"/>
          <p:nvPr/>
        </p:nvSpPr>
        <p:spPr>
          <a:xfrm>
            <a:off x="403951" y="519217"/>
            <a:ext cx="165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메인 페이지</a:t>
            </a:r>
            <a:endParaRPr lang="en-US" altLang="ko-KR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5629D27-CB20-4E8A-AB1A-3F04634D8275}"/>
              </a:ext>
            </a:extLst>
          </p:cNvPr>
          <p:cNvGrpSpPr/>
          <p:nvPr/>
        </p:nvGrpSpPr>
        <p:grpSpPr>
          <a:xfrm>
            <a:off x="5963456" y="1678032"/>
            <a:ext cx="388720" cy="200055"/>
            <a:chOff x="4727047" y="5307508"/>
            <a:chExt cx="388720" cy="200055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6162B5F-CED4-4C62-8D4A-EFC86CD3ED37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TextBox 27">
              <a:extLst>
                <a:ext uri="{FF2B5EF4-FFF2-40B4-BE49-F238E27FC236}">
                  <a16:creationId xmlns:a16="http://schemas.microsoft.com/office/drawing/2014/main" id="{873CCA2C-DD3A-48A9-B060-7B4BBE5E85AA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1835673-F1F8-41EF-99CC-65249EBDBAD8}"/>
              </a:ext>
            </a:extLst>
          </p:cNvPr>
          <p:cNvGrpSpPr/>
          <p:nvPr/>
        </p:nvGrpSpPr>
        <p:grpSpPr>
          <a:xfrm>
            <a:off x="3318959" y="2774396"/>
            <a:ext cx="388720" cy="200055"/>
            <a:chOff x="4727047" y="5307508"/>
            <a:chExt cx="388720" cy="200055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C460C33-D1EF-4523-AEB2-2F6AD9DC3064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TextBox 27">
              <a:extLst>
                <a:ext uri="{FF2B5EF4-FFF2-40B4-BE49-F238E27FC236}">
                  <a16:creationId xmlns:a16="http://schemas.microsoft.com/office/drawing/2014/main" id="{0E630D45-A24F-4149-8946-4AADF1CF349C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1EB009E-89B2-44A5-90BC-1D440871ACF0}"/>
              </a:ext>
            </a:extLst>
          </p:cNvPr>
          <p:cNvGrpSpPr/>
          <p:nvPr/>
        </p:nvGrpSpPr>
        <p:grpSpPr>
          <a:xfrm>
            <a:off x="6713306" y="4213628"/>
            <a:ext cx="388720" cy="200055"/>
            <a:chOff x="4727047" y="5316689"/>
            <a:chExt cx="388720" cy="200055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99944D2-38CC-46D8-AE57-2F584632831E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TextBox 27">
              <a:extLst>
                <a:ext uri="{FF2B5EF4-FFF2-40B4-BE49-F238E27FC236}">
                  <a16:creationId xmlns:a16="http://schemas.microsoft.com/office/drawing/2014/main" id="{4D960E10-5FC6-4A6F-9271-D36C92B12817}"/>
                </a:ext>
              </a:extLst>
            </p:cNvPr>
            <p:cNvSpPr txBox="1"/>
            <p:nvPr/>
          </p:nvSpPr>
          <p:spPr>
            <a:xfrm>
              <a:off x="4727047" y="5316689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109FC21-5042-43C1-B18A-10180C3D3CCF}"/>
              </a:ext>
            </a:extLst>
          </p:cNvPr>
          <p:cNvSpPr txBox="1"/>
          <p:nvPr/>
        </p:nvSpPr>
        <p:spPr>
          <a:xfrm>
            <a:off x="4841986" y="1293394"/>
            <a:ext cx="24359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검색어를 입력하세요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E606D0-2076-4DBC-9C46-EE8B19314900}"/>
              </a:ext>
            </a:extLst>
          </p:cNvPr>
          <p:cNvSpPr txBox="1"/>
          <p:nvPr/>
        </p:nvSpPr>
        <p:spPr>
          <a:xfrm>
            <a:off x="4851168" y="1917684"/>
            <a:ext cx="24359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리뷰순/평점순(정렬)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FF5814-356D-49F6-A93A-64A9FE79AADC}"/>
              </a:ext>
            </a:extLst>
          </p:cNvPr>
          <p:cNvSpPr txBox="1"/>
          <p:nvPr/>
        </p:nvSpPr>
        <p:spPr>
          <a:xfrm>
            <a:off x="754147" y="3168678"/>
            <a:ext cx="201528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업체1         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        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BFF067-CEF4-4635-85C2-DC562AB4039B}"/>
              </a:ext>
            </a:extLst>
          </p:cNvPr>
          <p:cNvSpPr txBox="1"/>
          <p:nvPr/>
        </p:nvSpPr>
        <p:spPr>
          <a:xfrm>
            <a:off x="4213714" y="3165549"/>
            <a:ext cx="1978566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업체2            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sp>
        <p:nvSpPr>
          <p:cNvPr id="50" name="화살표: 위쪽/아래쪽 49">
            <a:extLst>
              <a:ext uri="{FF2B5EF4-FFF2-40B4-BE49-F238E27FC236}">
                <a16:creationId xmlns:a16="http://schemas.microsoft.com/office/drawing/2014/main" id="{32AC435F-BE32-4808-A190-53C7894DEB66}"/>
              </a:ext>
            </a:extLst>
          </p:cNvPr>
          <p:cNvSpPr/>
          <p:nvPr/>
        </p:nvSpPr>
        <p:spPr>
          <a:xfrm>
            <a:off x="7284784" y="2421053"/>
            <a:ext cx="200526" cy="41609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91D05072-4C39-4318-9788-E88A20AE8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55462"/>
              </p:ext>
            </p:extLst>
          </p:nvPr>
        </p:nvGraphicFramePr>
        <p:xfrm>
          <a:off x="422313" y="1314922"/>
          <a:ext cx="3777335" cy="342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467">
                  <a:extLst>
                    <a:ext uri="{9D8B030D-6E8A-4147-A177-3AD203B41FA5}">
                      <a16:colId xmlns:a16="http://schemas.microsoft.com/office/drawing/2014/main" val="2043933455"/>
                    </a:ext>
                  </a:extLst>
                </a:gridCol>
                <a:gridCol w="755467">
                  <a:extLst>
                    <a:ext uri="{9D8B030D-6E8A-4147-A177-3AD203B41FA5}">
                      <a16:colId xmlns:a16="http://schemas.microsoft.com/office/drawing/2014/main" val="2761184586"/>
                    </a:ext>
                  </a:extLst>
                </a:gridCol>
                <a:gridCol w="755467">
                  <a:extLst>
                    <a:ext uri="{9D8B030D-6E8A-4147-A177-3AD203B41FA5}">
                      <a16:colId xmlns:a16="http://schemas.microsoft.com/office/drawing/2014/main" val="2287435899"/>
                    </a:ext>
                  </a:extLst>
                </a:gridCol>
                <a:gridCol w="755467">
                  <a:extLst>
                    <a:ext uri="{9D8B030D-6E8A-4147-A177-3AD203B41FA5}">
                      <a16:colId xmlns:a16="http://schemas.microsoft.com/office/drawing/2014/main" val="3132636302"/>
                    </a:ext>
                  </a:extLst>
                </a:gridCol>
                <a:gridCol w="755467">
                  <a:extLst>
                    <a:ext uri="{9D8B030D-6E8A-4147-A177-3AD203B41FA5}">
                      <a16:colId xmlns:a16="http://schemas.microsoft.com/office/drawing/2014/main" val="1421689181"/>
                    </a:ext>
                  </a:extLst>
                </a:gridCol>
              </a:tblGrid>
              <a:tr h="3421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400"/>
                        <a:t>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여름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가을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겨울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36786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96CD0DA8-FC03-4749-A559-D2908F5AA749}"/>
              </a:ext>
            </a:extLst>
          </p:cNvPr>
          <p:cNvGraphicFramePr>
            <a:graphicFrameLocks noGrp="1"/>
          </p:cNvGraphicFramePr>
          <p:nvPr/>
        </p:nvGraphicFramePr>
        <p:xfrm>
          <a:off x="422312" y="1735156"/>
          <a:ext cx="3787360" cy="370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472">
                  <a:extLst>
                    <a:ext uri="{9D8B030D-6E8A-4147-A177-3AD203B41FA5}">
                      <a16:colId xmlns:a16="http://schemas.microsoft.com/office/drawing/2014/main" val="3610218329"/>
                    </a:ext>
                  </a:extLst>
                </a:gridCol>
                <a:gridCol w="757472">
                  <a:extLst>
                    <a:ext uri="{9D8B030D-6E8A-4147-A177-3AD203B41FA5}">
                      <a16:colId xmlns:a16="http://schemas.microsoft.com/office/drawing/2014/main" val="2761184586"/>
                    </a:ext>
                  </a:extLst>
                </a:gridCol>
                <a:gridCol w="757472">
                  <a:extLst>
                    <a:ext uri="{9D8B030D-6E8A-4147-A177-3AD203B41FA5}">
                      <a16:colId xmlns:a16="http://schemas.microsoft.com/office/drawing/2014/main" val="2287435899"/>
                    </a:ext>
                  </a:extLst>
                </a:gridCol>
                <a:gridCol w="757472">
                  <a:extLst>
                    <a:ext uri="{9D8B030D-6E8A-4147-A177-3AD203B41FA5}">
                      <a16:colId xmlns:a16="http://schemas.microsoft.com/office/drawing/2014/main" val="3132636302"/>
                    </a:ext>
                  </a:extLst>
                </a:gridCol>
                <a:gridCol w="757472">
                  <a:extLst>
                    <a:ext uri="{9D8B030D-6E8A-4147-A177-3AD203B41FA5}">
                      <a16:colId xmlns:a16="http://schemas.microsoft.com/office/drawing/2014/main" val="1421689181"/>
                    </a:ext>
                  </a:extLst>
                </a:gridCol>
              </a:tblGrid>
              <a:tr h="3709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400"/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400"/>
                        <a:t>한식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중식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양식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일식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36786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A1E25D9F-AA96-4884-B947-0156DDCE56A1}"/>
              </a:ext>
            </a:extLst>
          </p:cNvPr>
          <p:cNvGraphicFramePr>
            <a:graphicFrameLocks noGrp="1"/>
          </p:cNvGraphicFramePr>
          <p:nvPr/>
        </p:nvGraphicFramePr>
        <p:xfrm>
          <a:off x="403951" y="2166650"/>
          <a:ext cx="3808196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049">
                  <a:extLst>
                    <a:ext uri="{9D8B030D-6E8A-4147-A177-3AD203B41FA5}">
                      <a16:colId xmlns:a16="http://schemas.microsoft.com/office/drawing/2014/main" val="1049426001"/>
                    </a:ext>
                  </a:extLst>
                </a:gridCol>
                <a:gridCol w="952049">
                  <a:extLst>
                    <a:ext uri="{9D8B030D-6E8A-4147-A177-3AD203B41FA5}">
                      <a16:colId xmlns:a16="http://schemas.microsoft.com/office/drawing/2014/main" val="2761184586"/>
                    </a:ext>
                  </a:extLst>
                </a:gridCol>
                <a:gridCol w="952049">
                  <a:extLst>
                    <a:ext uri="{9D8B030D-6E8A-4147-A177-3AD203B41FA5}">
                      <a16:colId xmlns:a16="http://schemas.microsoft.com/office/drawing/2014/main" val="2287435899"/>
                    </a:ext>
                  </a:extLst>
                </a:gridCol>
                <a:gridCol w="952049">
                  <a:extLst>
                    <a:ext uri="{9D8B030D-6E8A-4147-A177-3AD203B41FA5}">
                      <a16:colId xmlns:a16="http://schemas.microsoft.com/office/drawing/2014/main" val="31326363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400"/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400"/>
                        <a:t>전북대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신시가지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객사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36786"/>
                  </a:ext>
                </a:extLst>
              </a:tr>
            </a:tbl>
          </a:graphicData>
        </a:graphic>
      </p:graphicFrame>
      <p:sp>
        <p:nvSpPr>
          <p:cNvPr id="54" name="Text 10">
            <a:extLst>
              <a:ext uri="{FF2B5EF4-FFF2-40B4-BE49-F238E27FC236}">
                <a16:creationId xmlns:a16="http://schemas.microsoft.com/office/drawing/2014/main" id="{81974E7A-D191-4ABB-96D9-3C11B7A3EAF5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27/35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20678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정의서 구성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7"/>
                </a:solidFill>
              </a:rPr>
              <a:t>K-Digital 과정 팀 프로젝트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384280" y="640080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7"/>
                </a:solidFill>
              </a:rPr>
              <a:t>15</a:t>
            </a:r>
            <a:endParaRPr lang="en-US" sz="8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EDEC916-4561-4F02-9510-F7DFB2298404}"/>
              </a:ext>
            </a:extLst>
          </p:cNvPr>
          <p:cNvSpPr/>
          <p:nvPr/>
        </p:nvSpPr>
        <p:spPr>
          <a:xfrm>
            <a:off x="5897881" y="2011680"/>
            <a:ext cx="5303520" cy="32689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endParaRPr lang="en-US" altLang="ko-KR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8911DC-C552-4EB5-9014-9F4ABB1334CE}"/>
              </a:ext>
            </a:extLst>
          </p:cNvPr>
          <p:cNvSpPr txBox="1"/>
          <p:nvPr/>
        </p:nvSpPr>
        <p:spPr>
          <a:xfrm>
            <a:off x="403951" y="519217"/>
            <a:ext cx="165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메인 페이지</a:t>
            </a:r>
            <a:endParaRPr lang="en-US" altLang="ko-KR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913464-0A2E-4868-814A-E9848E713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3" y="943630"/>
            <a:ext cx="5588409" cy="304554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2174D-D56A-4306-AE35-7C38F015E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574" y="938198"/>
            <a:ext cx="6028267" cy="3049978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14" name="그림 1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C69A45-9F44-4951-8EE2-6FA5916F9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20" y="4115501"/>
            <a:ext cx="5571476" cy="2722214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8650C2-A614-49CF-A741-C984C939D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574" y="4093788"/>
            <a:ext cx="6011333" cy="273051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B1447175-BB26-4CD7-8C26-CE6331C0C629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28/35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831903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103FE11-98B6-4D2E-B97B-D537CFC13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659600"/>
              </p:ext>
            </p:extLst>
          </p:nvPr>
        </p:nvGraphicFramePr>
        <p:xfrm>
          <a:off x="7825448" y="519217"/>
          <a:ext cx="4006300" cy="62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702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DEVELOP</a:t>
                      </a:r>
                      <a:r>
                        <a:rPr lang="en-US" altLang="ko-KR" sz="600" b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Description</a:t>
                      </a:r>
                      <a:endParaRPr lang="ko-KR" altLang="en-US" sz="6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7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A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r>
                        <a:rPr lang="en-US" altLang="ko-KR" sz="1000" b="0" i="0" u="none" strike="noStrike" baseline="0" noProof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메인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b="0" i="0" u="none" strike="noStrike" baseline="0" noProof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페이지에서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b="0" i="0" u="none" strike="noStrike" baseline="0" noProof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클릭된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b="0" i="0" u="none" strike="noStrike" baseline="0" noProof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업체명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7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-업체 관련 이미지를 기본적으로 3개만 보여주고 추가적인 사진은 + 버튼을 눌러서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업체에서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파는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메뉴들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관련 이미지를 기본적으로 </a:t>
                      </a:r>
                      <a:r>
                        <a:rPr lang="en-US" altLang="ko-KR" sz="1000" b="0" i="0" u="none" strike="noStrike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  <a:r>
                        <a:rPr lang="ko-KR" altLang="en-US" sz="1000" b="0" i="0" u="none" strike="noStrike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개만 보여주고 추가적인 사진은 </a:t>
                      </a:r>
                      <a:r>
                        <a:rPr lang="en-US" altLang="ko-KR" sz="1000" b="0" i="0" u="none" strike="noStrike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r>
                        <a:rPr lang="ko-KR" altLang="en-US" sz="1000" b="0" i="0" u="none" strike="noStrike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버튼을 눌러서 확인</a:t>
                      </a:r>
                      <a:endParaRPr lang="en-US" altLang="ko-KR" sz="100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9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-맛,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편의성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,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계절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적합성을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종합한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감성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분석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평점</a:t>
                      </a:r>
                    </a:p>
                    <a:p>
                      <a:pPr marL="0" lvl="0" indent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업체의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영업시간</a:t>
                      </a:r>
                      <a:endParaRPr lang="en-US" altLang="ko-KR" sz="10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17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업체의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전화번호</a:t>
                      </a:r>
                    </a:p>
                    <a:p>
                      <a:pPr marL="0" lvl="0" indent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네이버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지도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정보탭에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있는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편의시설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정보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유아의자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,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콜키지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가능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등)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32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10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네이버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지도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정보탭에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있는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업체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소개글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업체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소개글이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없는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가게는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홈탭에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있는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AI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브리핑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요약을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가져오는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방향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  <a:endParaRPr lang="en-US" altLang="ko-KR" sz="100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/>
                        <a:ea typeface="나눔고딕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크롤링한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리뷰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요약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안될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시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네이버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지도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방문자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리뷰에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있는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것 중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가장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많은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것 3가지)</a:t>
                      </a:r>
                    </a:p>
                    <a:p>
                      <a:pPr marL="0" lvl="0" indent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요약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모델은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kobert 한국어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요약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모델을</a:t>
                      </a: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사용</a:t>
                      </a:r>
                      <a:endParaRPr lang="en-US" altLang="ko-KR" sz="10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/>
                        <a:ea typeface="나눔고딕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0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37404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3174">
                      <a:solidFill>
                        <a:schemeClr val="bg1">
                          <a:lumMod val="75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1">
                          <a:lumMod val="7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정보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출처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확장으로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다른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출처가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생기면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추가적으로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명시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 anchor="ctr">
                    <a:lnL w="3174">
                      <a:solidFill>
                        <a:schemeClr val="bg1">
                          <a:lumMod val="75000"/>
                        </a:schemeClr>
                      </a:solidFill>
                    </a:lnL>
                    <a:lnR w="0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1">
                          <a:lumMod val="7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85292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정의서 구성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EDEC916-4561-4F02-9510-F7DFB2298404}"/>
              </a:ext>
            </a:extLst>
          </p:cNvPr>
          <p:cNvSpPr/>
          <p:nvPr/>
        </p:nvSpPr>
        <p:spPr>
          <a:xfrm>
            <a:off x="5897881" y="2011680"/>
            <a:ext cx="5303520" cy="32689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endParaRPr lang="en-US" altLang="ko-KR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8911DC-C552-4EB5-9014-9F4ABB1334CE}"/>
              </a:ext>
            </a:extLst>
          </p:cNvPr>
          <p:cNvSpPr txBox="1"/>
          <p:nvPr/>
        </p:nvSpPr>
        <p:spPr>
          <a:xfrm>
            <a:off x="403951" y="519217"/>
            <a:ext cx="165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상세 페이지</a:t>
            </a:r>
            <a:endParaRPr lang="en-US" altLang="ko-KR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0DB692E-896F-4AF3-825C-2F9108BFDA32}"/>
              </a:ext>
            </a:extLst>
          </p:cNvPr>
          <p:cNvGrpSpPr/>
          <p:nvPr/>
        </p:nvGrpSpPr>
        <p:grpSpPr>
          <a:xfrm>
            <a:off x="2395179" y="2076291"/>
            <a:ext cx="388720" cy="200055"/>
            <a:chOff x="4727047" y="5307508"/>
            <a:chExt cx="388720" cy="200055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CAD784C-D84D-49F9-976E-F96BAA484B81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TextBox 27">
              <a:extLst>
                <a:ext uri="{FF2B5EF4-FFF2-40B4-BE49-F238E27FC236}">
                  <a16:creationId xmlns:a16="http://schemas.microsoft.com/office/drawing/2014/main" id="{EE0516AC-6984-4F42-A2C1-F8FFB2512283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34880E8-5FB8-4951-A1BB-9F89581BF8BD}"/>
              </a:ext>
            </a:extLst>
          </p:cNvPr>
          <p:cNvGrpSpPr/>
          <p:nvPr/>
        </p:nvGrpSpPr>
        <p:grpSpPr>
          <a:xfrm>
            <a:off x="2394812" y="4131339"/>
            <a:ext cx="388720" cy="200055"/>
            <a:chOff x="4727047" y="5307508"/>
            <a:chExt cx="388720" cy="200055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02A5805-9738-4E5C-834B-6E002E012464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6B20C79-C234-4C4A-A144-EB940D51C791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799A94E-A8A5-467F-B381-5B29B024EB82}"/>
              </a:ext>
            </a:extLst>
          </p:cNvPr>
          <p:cNvGrpSpPr/>
          <p:nvPr/>
        </p:nvGrpSpPr>
        <p:grpSpPr>
          <a:xfrm>
            <a:off x="6088397" y="2079803"/>
            <a:ext cx="388720" cy="200055"/>
            <a:chOff x="4727047" y="5307508"/>
            <a:chExt cx="388720" cy="200055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72CBE2C-3E9F-4873-830C-AD90D4FAB603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TextBox 27">
              <a:extLst>
                <a:ext uri="{FF2B5EF4-FFF2-40B4-BE49-F238E27FC236}">
                  <a16:creationId xmlns:a16="http://schemas.microsoft.com/office/drawing/2014/main" id="{49FA49EB-A67F-44EF-A2DE-75195BAC88E9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936D9C5-C64D-4E2C-BB56-6B3827E68168}"/>
              </a:ext>
            </a:extLst>
          </p:cNvPr>
          <p:cNvGrpSpPr/>
          <p:nvPr/>
        </p:nvGrpSpPr>
        <p:grpSpPr>
          <a:xfrm>
            <a:off x="6092002" y="3660103"/>
            <a:ext cx="388720" cy="200055"/>
            <a:chOff x="4727047" y="5307508"/>
            <a:chExt cx="388720" cy="200055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09B2FD7-0041-45A1-87E4-F5AE41AA5285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3" name="TextBox 27">
              <a:extLst>
                <a:ext uri="{FF2B5EF4-FFF2-40B4-BE49-F238E27FC236}">
                  <a16:creationId xmlns:a16="http://schemas.microsoft.com/office/drawing/2014/main" id="{E277A444-5A86-4DF9-BBA8-4B5561B0944E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82CA2E7-5532-4C36-B81F-586E80A1520D}"/>
              </a:ext>
            </a:extLst>
          </p:cNvPr>
          <p:cNvGrpSpPr/>
          <p:nvPr/>
        </p:nvGrpSpPr>
        <p:grpSpPr>
          <a:xfrm>
            <a:off x="6062926" y="4913416"/>
            <a:ext cx="388720" cy="200055"/>
            <a:chOff x="4727047" y="5307508"/>
            <a:chExt cx="388720" cy="200055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7F69998-3EA2-4892-A195-F1ABF5FDB957}"/>
                </a:ext>
              </a:extLst>
            </p:cNvPr>
            <p:cNvSpPr/>
            <p:nvPr/>
          </p:nvSpPr>
          <p:spPr>
            <a:xfrm>
              <a:off x="4831407" y="531753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50800">
                <a:srgbClr val="FF0000">
                  <a:alpha val="30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TextBox 27">
              <a:extLst>
                <a:ext uri="{FF2B5EF4-FFF2-40B4-BE49-F238E27FC236}">
                  <a16:creationId xmlns:a16="http://schemas.microsoft.com/office/drawing/2014/main" id="{91B2A318-9D92-474F-ABDB-63C6190B064A}"/>
                </a:ext>
              </a:extLst>
            </p:cNvPr>
            <p:cNvSpPr txBox="1"/>
            <p:nvPr/>
          </p:nvSpPr>
          <p:spPr>
            <a:xfrm>
              <a:off x="4727047" y="5307508"/>
              <a:ext cx="3887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1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323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984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26464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83080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9696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96312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52928" algn="l" defTabSz="713232" rtl="0" eaLnBrk="1" latinLnBrk="1" hangingPunct="1">
                <a:defRPr sz="14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EA352A1-3586-48BA-AF4C-1759C3021256}"/>
              </a:ext>
            </a:extLst>
          </p:cNvPr>
          <p:cNvSpPr txBox="1"/>
          <p:nvPr/>
        </p:nvSpPr>
        <p:spPr>
          <a:xfrm>
            <a:off x="448520" y="2366369"/>
            <a:ext cx="428579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업체 이미지</a:t>
            </a:r>
            <a:endParaRPr lang="ko-KR" altLang="en-US" dirty="0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83297A-4579-4C7E-AD7B-AC39E212B789}"/>
              </a:ext>
            </a:extLst>
          </p:cNvPr>
          <p:cNvSpPr txBox="1"/>
          <p:nvPr/>
        </p:nvSpPr>
        <p:spPr>
          <a:xfrm>
            <a:off x="3849307" y="3008880"/>
            <a:ext cx="41101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500">
                <a:ea typeface="맑은 고딕"/>
              </a:rPr>
              <a:t>+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1DD2292-4EA1-4EA0-A290-E3675EF8C24E}"/>
              </a:ext>
            </a:extLst>
          </p:cNvPr>
          <p:cNvCxnSpPr/>
          <p:nvPr/>
        </p:nvCxnSpPr>
        <p:spPr>
          <a:xfrm flipH="1">
            <a:off x="1870937" y="2362709"/>
            <a:ext cx="10801" cy="1742990"/>
          </a:xfrm>
          <a:prstGeom prst="straightConnector1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6382A11-F1F1-458A-9FBE-30A65632BAB2}"/>
              </a:ext>
            </a:extLst>
          </p:cNvPr>
          <p:cNvCxnSpPr/>
          <p:nvPr/>
        </p:nvCxnSpPr>
        <p:spPr>
          <a:xfrm flipH="1">
            <a:off x="3352105" y="2396598"/>
            <a:ext cx="10801" cy="17091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78B53BA-8470-4E5C-B506-1C296AAACB57}"/>
              </a:ext>
            </a:extLst>
          </p:cNvPr>
          <p:cNvSpPr txBox="1"/>
          <p:nvPr/>
        </p:nvSpPr>
        <p:spPr>
          <a:xfrm>
            <a:off x="449304" y="1285874"/>
            <a:ext cx="1854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업체명</a:t>
            </a:r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907924-9250-450A-8BC9-3B57464E356E}"/>
              </a:ext>
            </a:extLst>
          </p:cNvPr>
          <p:cNvSpPr txBox="1"/>
          <p:nvPr/>
        </p:nvSpPr>
        <p:spPr>
          <a:xfrm>
            <a:off x="4917366" y="2362948"/>
            <a:ext cx="12833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평점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FF361A-D5EA-42CE-9842-6EC0E6D77ECD}"/>
              </a:ext>
            </a:extLst>
          </p:cNvPr>
          <p:cNvSpPr txBox="1"/>
          <p:nvPr/>
        </p:nvSpPr>
        <p:spPr>
          <a:xfrm>
            <a:off x="4874880" y="3869042"/>
            <a:ext cx="1333602" cy="379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전화번호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C5295D-D07D-48BE-BAE4-06A7488E9433}"/>
              </a:ext>
            </a:extLst>
          </p:cNvPr>
          <p:cNvSpPr txBox="1"/>
          <p:nvPr/>
        </p:nvSpPr>
        <p:spPr>
          <a:xfrm>
            <a:off x="6347136" y="2367684"/>
            <a:ext cx="128336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영업시간</a:t>
            </a: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B0B3B1-432E-461B-B0F4-0DB22F5F898A}"/>
              </a:ext>
            </a:extLst>
          </p:cNvPr>
          <p:cNvSpPr txBox="1"/>
          <p:nvPr/>
        </p:nvSpPr>
        <p:spPr>
          <a:xfrm>
            <a:off x="447295" y="4418366"/>
            <a:ext cx="4295649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메뉴</a:t>
            </a: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39F810-6D69-44B4-BFA0-A7288244C771}"/>
              </a:ext>
            </a:extLst>
          </p:cNvPr>
          <p:cNvSpPr txBox="1"/>
          <p:nvPr/>
        </p:nvSpPr>
        <p:spPr>
          <a:xfrm>
            <a:off x="6306137" y="5246428"/>
            <a:ext cx="137290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리뷰요약</a:t>
            </a: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  <a:p>
            <a:pPr algn="ctr"/>
            <a:endParaRPr lang="ko-KR" altLang="en-US">
              <a:ea typeface="맑은 고딕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13ACA5-C09C-449B-BDB7-DE699A888BC1}"/>
              </a:ext>
            </a:extLst>
          </p:cNvPr>
          <p:cNvSpPr txBox="1"/>
          <p:nvPr/>
        </p:nvSpPr>
        <p:spPr>
          <a:xfrm>
            <a:off x="4867619" y="5242556"/>
            <a:ext cx="137496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업체 소개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  <a:p>
            <a:endParaRPr lang="ko-KR" altLang="en-US">
              <a:ea typeface="맑은 고딕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F0FF80-5B89-4C94-A033-2A2D0D700266}"/>
              </a:ext>
            </a:extLst>
          </p:cNvPr>
          <p:cNvSpPr txBox="1"/>
          <p:nvPr/>
        </p:nvSpPr>
        <p:spPr>
          <a:xfrm>
            <a:off x="6301114" y="3864601"/>
            <a:ext cx="133086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편의성</a:t>
            </a:r>
            <a:endParaRPr lang="ko-KR" altLang="en-US">
              <a:ea typeface="맑은 고딕" panose="020B0503020000020004" pitchFamily="34" charset="-127"/>
            </a:endParaRPr>
          </a:p>
          <a:p>
            <a:pPr algn="ctr"/>
            <a:endParaRPr lang="ko-KR" altLang="en-US">
              <a:ea typeface="맑은 고딕" panose="020B0503020000020004" pitchFamily="34" charset="-127"/>
            </a:endParaRPr>
          </a:p>
          <a:p>
            <a:pPr algn="ctr"/>
            <a:endParaRPr lang="ko-KR" altLang="en-US">
              <a:ea typeface="맑은 고딕" panose="020B0503020000020004" pitchFamily="34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9B3DAD-4276-4C16-AF43-5A06C879337D}"/>
              </a:ext>
            </a:extLst>
          </p:cNvPr>
          <p:cNvSpPr txBox="1"/>
          <p:nvPr/>
        </p:nvSpPr>
        <p:spPr>
          <a:xfrm>
            <a:off x="446956" y="6607341"/>
            <a:ext cx="683818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00">
                <a:ea typeface="맑은 고딕"/>
              </a:rPr>
              <a:t>본 사이트는 네이버 지도의 데이터를 기반으로 제작되었습니다.</a:t>
            </a: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6A428C9B-2657-462E-824D-52416AD7F8FD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29/35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85869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시스템 </a:t>
            </a:r>
            <a:r>
              <a:rPr lang="ko-KR" altLang="en-US" sz="2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아키텍쳐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135444"/>
            <a:ext cx="5486400" cy="22217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lang="ko-KR" altLang="en-US" sz="1800" b="1" dirty="0">
                <a:solidFill>
                  <a:srgbClr val="163A5F"/>
                </a:solidFill>
                <a:latin typeface="Malgun Gothic"/>
              </a:rPr>
              <a:t>사용 프레임워크와 라이브러리</a:t>
            </a:r>
            <a:endParaRPr sz="1800" b="1" dirty="0">
              <a:solidFill>
                <a:srgbClr val="163A5F"/>
              </a:solidFill>
              <a:latin typeface="Malgun Gothic"/>
            </a:endParaRPr>
          </a:p>
          <a:p>
            <a:pPr>
              <a:spcBef>
                <a:spcPts val="800"/>
              </a:spcBef>
            </a:pPr>
            <a:r>
              <a:rPr lang="en-US" altLang="ko-KR" sz="1500" b="1" dirty="0">
                <a:solidFill>
                  <a:srgbClr val="222B35"/>
                </a:solidFill>
                <a:latin typeface="Malgun Gothic"/>
              </a:rPr>
              <a:t>• </a:t>
            </a:r>
            <a:r>
              <a:rPr lang="ko-KR" altLang="en-US" sz="1500" b="1" dirty="0">
                <a:solidFill>
                  <a:srgbClr val="222B35"/>
                </a:solidFill>
                <a:latin typeface="Malgun Gothic"/>
              </a:rPr>
              <a:t>환경관리</a:t>
            </a:r>
            <a:r>
              <a:rPr lang="en-US" altLang="ko-KR" sz="1500" b="1" dirty="0">
                <a:solidFill>
                  <a:srgbClr val="222B35"/>
                </a:solidFill>
                <a:latin typeface="Malgun Gothic"/>
              </a:rPr>
              <a:t>: </a:t>
            </a:r>
            <a:r>
              <a:rPr lang="en-US" altLang="ko-KR" sz="1500" b="1" dirty="0" err="1">
                <a:solidFill>
                  <a:srgbClr val="222B35"/>
                </a:solidFill>
                <a:latin typeface="Malgun Gothic"/>
              </a:rPr>
              <a:t>uv</a:t>
            </a:r>
            <a:r>
              <a:rPr lang="ko-KR" altLang="en-US" sz="1500" b="1" dirty="0">
                <a:solidFill>
                  <a:srgbClr val="222B35"/>
                </a:solidFill>
                <a:latin typeface="Malgun Gothic"/>
              </a:rPr>
              <a:t> 기반 </a:t>
            </a:r>
            <a:r>
              <a:rPr lang="en-US" altLang="ko-KR" sz="1500" b="1" dirty="0" err="1">
                <a:solidFill>
                  <a:srgbClr val="222B35"/>
                </a:solidFill>
                <a:latin typeface="Malgun Gothic"/>
              </a:rPr>
              <a:t>venv</a:t>
            </a:r>
            <a:r>
              <a:rPr lang="ko-KR" altLang="en-US" sz="1500" b="1" dirty="0">
                <a:solidFill>
                  <a:srgbClr val="222B35"/>
                </a:solidFill>
                <a:latin typeface="Malgun Gothic"/>
              </a:rPr>
              <a:t> 파이썬</a:t>
            </a:r>
            <a:r>
              <a:rPr lang="ko-KR" altLang="en-US" sz="15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lang="en-US" altLang="ko-KR" sz="1500" dirty="0">
                <a:solidFill>
                  <a:srgbClr val="222B35"/>
                </a:solidFill>
                <a:latin typeface="Malgun Gothic"/>
              </a:rPr>
              <a:t>3.12 </a:t>
            </a:r>
            <a:r>
              <a:rPr lang="ko-KR" altLang="en-US" sz="1500" dirty="0">
                <a:solidFill>
                  <a:srgbClr val="222B35"/>
                </a:solidFill>
                <a:latin typeface="Malgun Gothic"/>
              </a:rPr>
              <a:t>환경</a:t>
            </a:r>
            <a:endParaRPr lang="en-US" altLang="ko-KR" sz="1500" b="1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800"/>
              </a:spcBef>
            </a:pPr>
            <a:r>
              <a:rPr lang="en-US" altLang="ko-KR" sz="1500" b="1" dirty="0">
                <a:solidFill>
                  <a:srgbClr val="222B35"/>
                </a:solidFill>
                <a:latin typeface="Malgun Gothic"/>
              </a:rPr>
              <a:t>•</a:t>
            </a:r>
            <a:r>
              <a:rPr sz="1500" b="1" dirty="0">
                <a:solidFill>
                  <a:srgbClr val="222B35"/>
                </a:solidFill>
                <a:latin typeface="Malgun Gothic"/>
              </a:rPr>
              <a:t> </a:t>
            </a:r>
            <a:r>
              <a:rPr lang="en-US" altLang="ko-KR" sz="1500" b="1" dirty="0">
                <a:solidFill>
                  <a:srgbClr val="222B35"/>
                </a:solidFill>
                <a:latin typeface="Malgun Gothic"/>
              </a:rPr>
              <a:t>Crawling: </a:t>
            </a:r>
            <a:r>
              <a:rPr lang="en-US" altLang="ko-KR" sz="1500" dirty="0">
                <a:solidFill>
                  <a:srgbClr val="222B35"/>
                </a:solidFill>
                <a:latin typeface="Malgun Gothic"/>
              </a:rPr>
              <a:t>Selenium, requests, bs4</a:t>
            </a:r>
          </a:p>
          <a:p>
            <a:pPr>
              <a:spcBef>
                <a:spcPts val="800"/>
              </a:spcBef>
            </a:pPr>
            <a:r>
              <a:rPr sz="1500" b="1" dirty="0">
                <a:solidFill>
                  <a:srgbClr val="222B35"/>
                </a:solidFill>
                <a:latin typeface="Malgun Gothic"/>
              </a:rPr>
              <a:t>• Frontend: </a:t>
            </a:r>
            <a:r>
              <a:rPr sz="1500" dirty="0">
                <a:solidFill>
                  <a:srgbClr val="222B35"/>
                </a:solidFill>
                <a:latin typeface="Malgun Gothic"/>
              </a:rPr>
              <a:t>HTML5 · CSS3 · B</a:t>
            </a:r>
            <a:r>
              <a:rPr lang="en-US" altLang="ko-KR" sz="1500" dirty="0">
                <a:solidFill>
                  <a:srgbClr val="222B35"/>
                </a:solidFill>
                <a:latin typeface="Malgun Gothic"/>
              </a:rPr>
              <a:t>ootstrap 5</a:t>
            </a:r>
          </a:p>
          <a:p>
            <a:pPr>
              <a:spcBef>
                <a:spcPts val="800"/>
              </a:spcBef>
            </a:pPr>
            <a:r>
              <a:rPr lang="en-US" altLang="ko-KR" sz="1500" b="1" dirty="0">
                <a:solidFill>
                  <a:srgbClr val="222B35"/>
                </a:solidFill>
                <a:latin typeface="Malgun Gothic"/>
              </a:rPr>
              <a:t>• Backend: </a:t>
            </a:r>
            <a:r>
              <a:rPr lang="en-US" altLang="ko-KR" sz="1500" dirty="0">
                <a:solidFill>
                  <a:srgbClr val="222B35"/>
                </a:solidFill>
                <a:latin typeface="Malgun Gothic"/>
              </a:rPr>
              <a:t>Flask</a:t>
            </a:r>
          </a:p>
          <a:p>
            <a:pPr>
              <a:spcBef>
                <a:spcPts val="800"/>
              </a:spcBef>
            </a:pPr>
            <a:r>
              <a:rPr lang="en-US" altLang="ko-KR" sz="1500" b="1" dirty="0">
                <a:solidFill>
                  <a:srgbClr val="222B35"/>
                </a:solidFill>
                <a:latin typeface="+mj-lt"/>
              </a:rPr>
              <a:t>• </a:t>
            </a:r>
            <a:r>
              <a:rPr lang="en-US" altLang="ko-KR" sz="1500" b="1" i="0" dirty="0">
                <a:solidFill>
                  <a:srgbClr val="1C1C1E"/>
                </a:solidFill>
                <a:effectLst/>
                <a:latin typeface="+mj-lt"/>
              </a:rPr>
              <a:t>DBMS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: ORACLE MySQL 8.0.73</a:t>
            </a:r>
          </a:p>
          <a:p>
            <a:pPr>
              <a:spcBef>
                <a:spcPts val="800"/>
              </a:spcBef>
            </a:pPr>
            <a:endParaRPr lang="en-US" altLang="ko-KR" sz="1500" b="1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3514406"/>
            <a:ext cx="5486400" cy="2932114"/>
          </a:xfrm>
          <a:prstGeom prst="rect">
            <a:avLst/>
          </a:prstGeom>
          <a:solidFill>
            <a:srgbClr val="FEF7EA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800" b="1" dirty="0" err="1">
                <a:solidFill>
                  <a:srgbClr val="163A5F"/>
                </a:solidFill>
                <a:latin typeface="Malgun Gothic"/>
              </a:rPr>
              <a:t>선정</a:t>
            </a:r>
            <a:r>
              <a:rPr sz="1800" b="1" dirty="0">
                <a:solidFill>
                  <a:srgbClr val="163A5F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63A5F"/>
                </a:solidFill>
                <a:latin typeface="Malgun Gothic"/>
              </a:rPr>
              <a:t>이유</a:t>
            </a:r>
            <a:r>
              <a:rPr sz="1800" b="1" dirty="0">
                <a:solidFill>
                  <a:srgbClr val="163A5F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63A5F"/>
                </a:solidFill>
                <a:latin typeface="Malgun Gothic"/>
              </a:rPr>
              <a:t>정리</a:t>
            </a:r>
            <a:endParaRPr sz="1800" b="1" dirty="0">
              <a:solidFill>
                <a:srgbClr val="163A5F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222B35"/>
                </a:solidFill>
                <a:latin typeface="Malgun Gothic"/>
              </a:rPr>
              <a:t>• Python/Flask: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크롤링·전처리·웹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구현을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하나의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흐름으로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연결</a:t>
            </a:r>
            <a:r>
              <a:rPr lang="en-US"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용이</a:t>
            </a:r>
            <a:endParaRPr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222B35"/>
                </a:solidFill>
                <a:latin typeface="Malgun Gothic"/>
              </a:rPr>
              <a:t>• MySQL: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수집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원본과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분석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결과를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단계별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테이블로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관리하기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적합</a:t>
            </a:r>
            <a:endParaRPr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222B35"/>
                </a:solidFill>
                <a:latin typeface="Malgun Gothic"/>
              </a:rPr>
              <a:t>• Selenium: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네이버·카카오의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동적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페이지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데이터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수집에</a:t>
            </a:r>
            <a:r>
              <a:rPr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222B35"/>
                </a:solidFill>
                <a:latin typeface="Malgun Gothic"/>
              </a:rPr>
              <a:t>활용</a:t>
            </a:r>
            <a:endParaRPr sz="1400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2D6D4FDA-3BE0-4818-8BA9-D41F31F4A57F}"/>
              </a:ext>
            </a:extLst>
          </p:cNvPr>
          <p:cNvSpPr/>
          <p:nvPr/>
        </p:nvSpPr>
        <p:spPr>
          <a:xfrm>
            <a:off x="6095847" y="1135444"/>
            <a:ext cx="5486400" cy="22217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lang="ko-KR" altLang="en-US" sz="1800" b="1" dirty="0">
                <a:solidFill>
                  <a:srgbClr val="163A5F"/>
                </a:solidFill>
                <a:latin typeface="Malgun Gothic"/>
              </a:rPr>
              <a:t>장비 환경</a:t>
            </a:r>
            <a:endParaRPr sz="1800" b="1" dirty="0">
              <a:solidFill>
                <a:srgbClr val="163A5F"/>
              </a:solidFill>
              <a:latin typeface="Malgun Gothic"/>
            </a:endParaRPr>
          </a:p>
          <a:p>
            <a:pPr algn="l">
              <a:lnSpc>
                <a:spcPct val="150000"/>
              </a:lnSpc>
            </a:pPr>
            <a:r>
              <a:rPr sz="1500" b="1" dirty="0">
                <a:solidFill>
                  <a:srgbClr val="222B35"/>
                </a:solidFill>
                <a:latin typeface="+mj-lt"/>
              </a:rPr>
              <a:t>• </a:t>
            </a:r>
            <a:r>
              <a:rPr lang="en-US" altLang="ko-KR" sz="1500" b="1" i="0" dirty="0">
                <a:solidFill>
                  <a:srgbClr val="1C1C1E"/>
                </a:solidFill>
                <a:effectLst/>
                <a:latin typeface="+mj-lt"/>
              </a:rPr>
              <a:t>OS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: ubuntu server 24.04 </a:t>
            </a:r>
            <a:r>
              <a:rPr lang="en-US" altLang="ko-KR" sz="1500" dirty="0">
                <a:solidFill>
                  <a:srgbClr val="222B35"/>
                </a:solidFill>
                <a:latin typeface="+mj-lt"/>
              </a:rPr>
              <a:t>LTS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 </a:t>
            </a:r>
            <a:r>
              <a:rPr lang="en-US" altLang="ko-KR" sz="1500" dirty="0">
                <a:solidFill>
                  <a:srgbClr val="1C1C1E"/>
                </a:solidFill>
                <a:latin typeface="+mj-lt"/>
              </a:rPr>
              <a:t> </a:t>
            </a:r>
            <a:r>
              <a:rPr lang="en-US" altLang="ko-KR" sz="1500" dirty="0">
                <a:solidFill>
                  <a:srgbClr val="222B35"/>
                </a:solidFill>
                <a:latin typeface="+mj-lt"/>
              </a:rPr>
              <a:t>· 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Window 10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i="0" dirty="0">
                <a:solidFill>
                  <a:srgbClr val="1C1C1E"/>
                </a:solidFill>
                <a:effectLst/>
                <a:latin typeface="+mj-lt"/>
              </a:rPr>
              <a:t> CPU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: Intel core i7-4770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i="0" dirty="0">
                <a:solidFill>
                  <a:srgbClr val="1C1C1E"/>
                </a:solidFill>
                <a:effectLst/>
                <a:latin typeface="+mj-lt"/>
              </a:rPr>
              <a:t> RAM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: 16GB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1C1C1E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rgbClr val="1C1C1E"/>
                </a:solidFill>
                <a:latin typeface="+mj-lt"/>
              </a:rPr>
              <a:t>GPU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: NVIDIA RTX 3060 12GB  </a:t>
            </a:r>
            <a:r>
              <a:rPr lang="en-US" altLang="ko-KR" sz="1500" dirty="0">
                <a:solidFill>
                  <a:srgbClr val="222B35"/>
                </a:solidFill>
                <a:latin typeface="+mj-lt"/>
              </a:rPr>
              <a:t>· 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GeForce GTX 960 2GB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b="1" i="0" dirty="0">
                <a:solidFill>
                  <a:srgbClr val="1C1C1E"/>
                </a:solidFill>
                <a:effectLst/>
                <a:latin typeface="+mj-lt"/>
              </a:rPr>
              <a:t> Storage</a:t>
            </a:r>
            <a:r>
              <a:rPr lang="en-US" altLang="ko-KR" sz="1500" b="0" i="0" dirty="0">
                <a:solidFill>
                  <a:srgbClr val="1C1C1E"/>
                </a:solidFill>
                <a:effectLst/>
                <a:latin typeface="+mj-lt"/>
              </a:rPr>
              <a:t>: SSD 512GB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F743FDB7-2961-4475-A3C5-17FF913CDED5}"/>
              </a:ext>
            </a:extLst>
          </p:cNvPr>
          <p:cNvSpPr/>
          <p:nvPr/>
        </p:nvSpPr>
        <p:spPr>
          <a:xfrm>
            <a:off x="6095847" y="3514406"/>
            <a:ext cx="5486400" cy="2932114"/>
          </a:xfrm>
          <a:prstGeom prst="rect">
            <a:avLst/>
          </a:prstGeom>
          <a:solidFill>
            <a:srgbClr val="FEF7EA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800" b="1" dirty="0" err="1">
                <a:solidFill>
                  <a:srgbClr val="163A5F"/>
                </a:solidFill>
                <a:latin typeface="Malgun Gothic"/>
              </a:rPr>
              <a:t>선정</a:t>
            </a:r>
            <a:r>
              <a:rPr sz="1800" b="1" dirty="0">
                <a:solidFill>
                  <a:srgbClr val="163A5F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63A5F"/>
                </a:solidFill>
                <a:latin typeface="Malgun Gothic"/>
              </a:rPr>
              <a:t>이유</a:t>
            </a:r>
            <a:r>
              <a:rPr sz="1800" b="1" dirty="0">
                <a:solidFill>
                  <a:srgbClr val="163A5F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63A5F"/>
                </a:solidFill>
                <a:latin typeface="Malgun Gothic"/>
              </a:rPr>
              <a:t>정리</a:t>
            </a:r>
            <a:endParaRPr sz="1800" b="1" dirty="0">
              <a:solidFill>
                <a:srgbClr val="163A5F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222B35"/>
                </a:solidFill>
                <a:latin typeface="Malgun Gothic"/>
              </a:rPr>
              <a:t>•</a:t>
            </a:r>
            <a:r>
              <a:rPr lang="en-US"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ubuntu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server 24.04 LTS: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안정적인 서버 운영을 위해 선정</a:t>
            </a:r>
            <a:endParaRPr lang="en-US" altLang="ko-KR"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• Window 10: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개발 및 테스트 편의성을 위해 선정</a:t>
            </a:r>
            <a:endParaRPr lang="en-US" altLang="ko-KR"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• Intel core i7-4770 / RAM 16GB: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데이터 수집</a:t>
            </a: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,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분석 및 서버 구동에 충분한 성능 제공</a:t>
            </a:r>
            <a:endParaRPr lang="en-US" altLang="ko-KR"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• RTX 3060 / GTX 960: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향후 </a:t>
            </a: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AI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 분석 모델 확장 가능성을 고려</a:t>
            </a:r>
            <a:endParaRPr lang="en-US" altLang="ko-KR"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• SSD 512GB: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빠른 데이터 입출력과 개발 효율성 확보</a:t>
            </a:r>
            <a:endParaRPr lang="en-US" altLang="ko-KR"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• Flask: python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기반 분석 시스템과의 연동이 용이</a:t>
            </a:r>
            <a:endParaRPr lang="en-US" altLang="ko-KR"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r>
              <a:rPr lang="en-US" altLang="ko-KR" sz="1400" dirty="0">
                <a:solidFill>
                  <a:srgbClr val="222B35"/>
                </a:solidFill>
                <a:latin typeface="Malgun Gothic"/>
              </a:rPr>
              <a:t>• MY SQL 8.0.73: </a:t>
            </a:r>
            <a:r>
              <a:rPr lang="ko-KR" altLang="en-US" sz="1400" dirty="0">
                <a:solidFill>
                  <a:srgbClr val="222B35"/>
                </a:solidFill>
                <a:latin typeface="Malgun Gothic"/>
              </a:rPr>
              <a:t>구조화 된 데이터 저장 및 관리에 적합</a:t>
            </a:r>
            <a:endParaRPr lang="en-US" altLang="ko-KR" sz="1400" dirty="0">
              <a:solidFill>
                <a:srgbClr val="222B35"/>
              </a:solidFill>
              <a:latin typeface="Malgun Gothic"/>
            </a:endParaRPr>
          </a:p>
          <a:p>
            <a:pPr>
              <a:spcBef>
                <a:spcPts val="700"/>
              </a:spcBef>
            </a:pPr>
            <a:endParaRPr sz="1400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DCFB28F-2017-4AF1-B5A8-B1410BB64576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30/35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DB 파이프라인 및 핵심 구현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0972800" cy="12700"/>
          </a:xfrm>
          <a:prstGeom prst="rect">
            <a:avLst/>
          </a:prstGeom>
          <a:solidFill>
            <a:srgbClr val="C9D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143000"/>
            <a:ext cx="10424160" cy="411480"/>
          </a:xfrm>
          <a:prstGeom prst="rect">
            <a:avLst/>
          </a:prstGeom>
          <a:solidFill>
            <a:srgbClr val="F6F8FB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600" b="1">
                <a:solidFill>
                  <a:srgbClr val="2F6FB3"/>
                </a:solidFill>
                <a:latin typeface="Malgun Gothic"/>
              </a:rPr>
              <a:t>4단계 DB 파이프라인으로 수집 → 정제 → 분석 데이터를 분리 관리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35092" y="1783080"/>
            <a:ext cx="1828800" cy="1508760"/>
          </a:xfrm>
          <a:prstGeom prst="rect">
            <a:avLst/>
          </a:prstGeom>
          <a:solidFill>
            <a:srgbClr val="E8F0FA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1">
                <a:solidFill>
                  <a:srgbClr val="163A5F"/>
                </a:solidFill>
                <a:latin typeface="Malgun Gothic"/>
              </a:rPr>
              <a:t>T1  Shop_Raw</a:t>
            </a:r>
          </a:p>
          <a:p>
            <a:r>
              <a:rPr sz="1200">
                <a:solidFill>
                  <a:srgbClr val="222B35"/>
                </a:solidFill>
                <a:latin typeface="Malgun Gothic"/>
              </a:rPr>
              <a:t>최초 수집한 업체 기본 정보
가게명 · 리뷰 수 · 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8212" y="1783080"/>
            <a:ext cx="1828800" cy="1508760"/>
          </a:xfrm>
          <a:prstGeom prst="rect">
            <a:avLst/>
          </a:prstGeom>
          <a:solidFill>
            <a:srgbClr val="F3F7EC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1" dirty="0">
                <a:solidFill>
                  <a:srgbClr val="163A5F"/>
                </a:solidFill>
                <a:latin typeface="Malgun Gothic"/>
              </a:rPr>
              <a:t>T2 </a:t>
            </a:r>
            <a:r>
              <a:rPr lang="en-US" sz="1400" b="1" dirty="0" err="1">
                <a:solidFill>
                  <a:srgbClr val="163A5F"/>
                </a:solidFill>
                <a:latin typeface="Malgun Gothic"/>
              </a:rPr>
              <a:t>Shop_Processed</a:t>
            </a:r>
            <a:endParaRPr lang="en-US" sz="1400" b="1" dirty="0">
              <a:solidFill>
                <a:srgbClr val="163A5F"/>
              </a:solidFill>
              <a:latin typeface="Malgun Gothic"/>
            </a:endParaRPr>
          </a:p>
          <a:p>
            <a:r>
              <a:rPr sz="1200" dirty="0" err="1">
                <a:solidFill>
                  <a:srgbClr val="222B35"/>
                </a:solidFill>
                <a:latin typeface="Malgun Gothic"/>
              </a:rPr>
              <a:t>중복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제거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후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업체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마스터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
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카테고리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·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최종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1332" y="1783080"/>
            <a:ext cx="1828800" cy="1508760"/>
          </a:xfrm>
          <a:prstGeom prst="rect">
            <a:avLst/>
          </a:prstGeom>
          <a:solidFill>
            <a:srgbClr val="FCF3E8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1" dirty="0">
                <a:solidFill>
                  <a:srgbClr val="163A5F"/>
                </a:solidFill>
                <a:latin typeface="Malgun Gothic"/>
              </a:rPr>
              <a:t>T3  </a:t>
            </a:r>
            <a:r>
              <a:rPr sz="1400" b="1" dirty="0" err="1">
                <a:solidFill>
                  <a:srgbClr val="163A5F"/>
                </a:solidFill>
                <a:latin typeface="Malgun Gothic"/>
              </a:rPr>
              <a:t>Review_Raw</a:t>
            </a:r>
            <a:endParaRPr sz="1400" b="1" dirty="0">
              <a:solidFill>
                <a:srgbClr val="163A5F"/>
              </a:solidFill>
              <a:latin typeface="Malgun Gothic"/>
            </a:endParaRPr>
          </a:p>
          <a:p>
            <a:r>
              <a:rPr sz="1200" dirty="0" err="1">
                <a:solidFill>
                  <a:srgbClr val="222B35"/>
                </a:solidFill>
                <a:latin typeface="Malgun Gothic"/>
              </a:rPr>
              <a:t>상세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리뷰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원본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저장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
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본문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·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날짜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·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이미지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4452" y="1783080"/>
            <a:ext cx="1828800" cy="1508760"/>
          </a:xfrm>
          <a:prstGeom prst="rect">
            <a:avLst/>
          </a:prstGeom>
          <a:solidFill>
            <a:srgbClr val="F7EEF9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1" dirty="0">
                <a:solidFill>
                  <a:srgbClr val="163A5F"/>
                </a:solidFill>
                <a:latin typeface="Malgun Gothic"/>
              </a:rPr>
              <a:t>T4  </a:t>
            </a:r>
            <a:r>
              <a:rPr sz="1400" b="1" dirty="0" err="1">
                <a:solidFill>
                  <a:srgbClr val="163A5F"/>
                </a:solidFill>
                <a:latin typeface="Malgun Gothic"/>
              </a:rPr>
              <a:t>Review_Final</a:t>
            </a:r>
            <a:endParaRPr sz="1400" b="1" dirty="0">
              <a:solidFill>
                <a:srgbClr val="163A5F"/>
              </a:solidFill>
              <a:latin typeface="Malgun Gothic"/>
            </a:endParaRPr>
          </a:p>
          <a:p>
            <a:r>
              <a:rPr lang="ko-KR" altLang="en-US" sz="1200" dirty="0">
                <a:solidFill>
                  <a:srgbClr val="222B35"/>
                </a:solidFill>
                <a:latin typeface="Malgun Gothic"/>
              </a:rPr>
              <a:t>모델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분석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결과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저장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
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계절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태그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·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감성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점수</a:t>
            </a:r>
            <a:r>
              <a:rPr sz="1200" dirty="0">
                <a:solidFill>
                  <a:srgbClr val="222B35"/>
                </a:solidFill>
                <a:latin typeface="Malgun Gothic"/>
              </a:rPr>
              <a:t> · </a:t>
            </a:r>
            <a:r>
              <a:rPr sz="1200" dirty="0" err="1">
                <a:solidFill>
                  <a:srgbClr val="222B35"/>
                </a:solidFill>
                <a:latin typeface="Malgun Gothic"/>
              </a:rPr>
              <a:t>벡터</a:t>
            </a:r>
            <a:endParaRPr sz="1200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691324" y="2240280"/>
            <a:ext cx="201168" cy="502920"/>
          </a:xfrm>
          <a:prstGeom prst="chevron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5794444" y="2240280"/>
            <a:ext cx="201168" cy="502920"/>
          </a:xfrm>
          <a:prstGeom prst="chevron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evron 13"/>
          <p:cNvSpPr/>
          <p:nvPr/>
        </p:nvSpPr>
        <p:spPr>
          <a:xfrm>
            <a:off x="7897564" y="2240280"/>
            <a:ext cx="201168" cy="502920"/>
          </a:xfrm>
          <a:prstGeom prst="chevron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703320"/>
            <a:ext cx="5074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700" b="1" dirty="0" err="1">
                <a:solidFill>
                  <a:srgbClr val="163A5F"/>
                </a:solidFill>
                <a:latin typeface="Malgun Gothic"/>
              </a:rPr>
              <a:t>서비스</a:t>
            </a:r>
            <a:r>
              <a:rPr sz="1700" b="1" dirty="0">
                <a:solidFill>
                  <a:srgbClr val="163A5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63A5F"/>
                </a:solidFill>
                <a:latin typeface="Malgun Gothic"/>
              </a:rPr>
              <a:t>흐름에서의</a:t>
            </a:r>
            <a:r>
              <a:rPr sz="1700" b="1" dirty="0">
                <a:solidFill>
                  <a:srgbClr val="163A5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63A5F"/>
                </a:solidFill>
                <a:latin typeface="Malgun Gothic"/>
              </a:rPr>
              <a:t>역할</a:t>
            </a:r>
            <a:endParaRPr sz="1700" b="1" dirty="0">
              <a:solidFill>
                <a:srgbClr val="163A5F"/>
              </a:solidFill>
              <a:latin typeface="Malgun Gothic"/>
            </a:endParaRPr>
          </a:p>
          <a:p>
            <a:r>
              <a:rPr sz="1300" dirty="0">
                <a:solidFill>
                  <a:srgbClr val="222B35"/>
                </a:solidFill>
                <a:latin typeface="Malgun Gothic"/>
              </a:rPr>
              <a:t>•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Selenium으로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맛집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/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리뷰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데이터를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수집</a:t>
            </a:r>
            <a:endParaRPr sz="1300" dirty="0">
              <a:solidFill>
                <a:srgbClr val="222B35"/>
              </a:solidFill>
              <a:latin typeface="Malgun Gothic"/>
            </a:endParaRPr>
          </a:p>
          <a:p>
            <a:r>
              <a:rPr sz="1300" dirty="0">
                <a:solidFill>
                  <a:srgbClr val="222B35"/>
                </a:solidFill>
                <a:latin typeface="Malgun Gothic"/>
              </a:rPr>
              <a:t>•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MySQL에서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원본·정제·분석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데이터를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분리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저장</a:t>
            </a:r>
            <a:endParaRPr sz="1300" dirty="0">
              <a:solidFill>
                <a:srgbClr val="222B35"/>
              </a:solidFill>
              <a:latin typeface="Malgun Gothic"/>
            </a:endParaRPr>
          </a:p>
          <a:p>
            <a:r>
              <a:rPr sz="1300" dirty="0">
                <a:solidFill>
                  <a:srgbClr val="222B35"/>
                </a:solidFill>
                <a:latin typeface="Malgun Gothic"/>
              </a:rPr>
              <a:t>• Flask +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Bootstrap으로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검색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/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필터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/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상세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화면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제공</a:t>
            </a:r>
            <a:endParaRPr sz="1300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6480" y="3703320"/>
            <a:ext cx="4846320" cy="1554480"/>
          </a:xfrm>
          <a:prstGeom prst="rect">
            <a:avLst/>
          </a:prstGeom>
          <a:solidFill>
            <a:srgbClr val="FEF7EA"/>
          </a:solidFill>
          <a:ln w="12700">
            <a:solidFill>
              <a:srgbClr val="C9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700" b="1" dirty="0" err="1">
                <a:solidFill>
                  <a:srgbClr val="163A5F"/>
                </a:solidFill>
                <a:latin typeface="Malgun Gothic"/>
              </a:rPr>
              <a:t>핵심</a:t>
            </a:r>
            <a:r>
              <a:rPr sz="1700" b="1" dirty="0">
                <a:solidFill>
                  <a:srgbClr val="163A5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63A5F"/>
                </a:solidFill>
                <a:latin typeface="Malgun Gothic"/>
              </a:rPr>
              <a:t>구현</a:t>
            </a:r>
            <a:r>
              <a:rPr sz="1700" b="1" dirty="0">
                <a:solidFill>
                  <a:srgbClr val="163A5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63A5F"/>
                </a:solidFill>
                <a:latin typeface="Malgun Gothic"/>
              </a:rPr>
              <a:t>포인트</a:t>
            </a:r>
            <a:endParaRPr sz="1700" b="1" dirty="0">
              <a:solidFill>
                <a:srgbClr val="163A5F"/>
              </a:solidFill>
              <a:latin typeface="Malgun Gothic"/>
            </a:endParaRPr>
          </a:p>
          <a:p>
            <a:r>
              <a:rPr sz="1300" dirty="0">
                <a:solidFill>
                  <a:srgbClr val="222B35"/>
                </a:solidFill>
                <a:latin typeface="Malgun Gothic"/>
              </a:rPr>
              <a:t>•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로컬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LLM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안정성을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위해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Python 3.12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이하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환경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유지</a:t>
            </a:r>
            <a:endParaRPr sz="1300" dirty="0">
              <a:solidFill>
                <a:srgbClr val="222B35"/>
              </a:solidFill>
              <a:latin typeface="Malgun Gothic"/>
            </a:endParaRPr>
          </a:p>
          <a:p>
            <a:r>
              <a:rPr sz="1300" dirty="0">
                <a:solidFill>
                  <a:srgbClr val="222B35"/>
                </a:solidFill>
                <a:latin typeface="Malgun Gothic"/>
              </a:rPr>
              <a:t>• DB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계정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및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설정값은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.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env로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분리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관리</a:t>
            </a:r>
            <a:endParaRPr sz="1300" dirty="0">
              <a:solidFill>
                <a:srgbClr val="222B35"/>
              </a:solidFill>
              <a:latin typeface="Malgun Gothic"/>
            </a:endParaRPr>
          </a:p>
          <a:p>
            <a:r>
              <a:rPr sz="1300" dirty="0">
                <a:solidFill>
                  <a:srgbClr val="222B35"/>
                </a:solidFill>
                <a:latin typeface="Malgun Gothic"/>
              </a:rPr>
              <a:t>•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이미지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파일은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원본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URL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활용으로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서버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부하</a:t>
            </a:r>
            <a:r>
              <a:rPr sz="1300" dirty="0">
                <a:solidFill>
                  <a:srgbClr val="222B35"/>
                </a:solidFill>
                <a:latin typeface="Malgun Gothic"/>
              </a:rPr>
              <a:t> </a:t>
            </a:r>
            <a:r>
              <a:rPr sz="1300" dirty="0" err="1">
                <a:solidFill>
                  <a:srgbClr val="222B35"/>
                </a:solidFill>
                <a:latin typeface="Malgun Gothic"/>
              </a:rPr>
              <a:t>최소화</a:t>
            </a:r>
            <a:endParaRPr sz="1300" dirty="0">
              <a:solidFill>
                <a:srgbClr val="222B35"/>
              </a:solidFill>
              <a:latin typeface="Malgun Gothic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1EEC7926-B9D4-4DEB-A188-86ED6D885A46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31/35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5F9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사용자 관점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73952" y="13533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프로젝트 관점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계절에 맞는 맛집을 빠르게 탐색 가능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리뷰 기반 추천으로 신뢰도 향상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검색·정렬·필터 기능으로 원하는 결과 확인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19672" y="1737360"/>
            <a:ext cx="4572000" cy="4114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데이터 수집부터 분석·구현까지 전 과정 경험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기획과 구현 범위 조정의 근거 제시 가능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향후 개인화 추천으로 확장 가능</a:t>
            </a:r>
            <a:endParaRPr lang="en-US" sz="1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FF2B3ED-A995-4DC6-8102-3571BACB78F3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32/35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 w="12700">
            <a:solidFill>
              <a:srgbClr val="F5F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63A5F"/>
                </a:solidFill>
              </a:rPr>
              <a:t>향후</a:t>
            </a:r>
            <a:r>
              <a:rPr lang="en-US" sz="2800" b="1" dirty="0">
                <a:solidFill>
                  <a:srgbClr val="163A5F"/>
                </a:solidFill>
              </a:rPr>
              <a:t> </a:t>
            </a:r>
            <a:r>
              <a:rPr lang="en-US" sz="2800" b="1" dirty="0" err="1">
                <a:solidFill>
                  <a:srgbClr val="163A5F"/>
                </a:solidFill>
              </a:rPr>
              <a:t>계획</a:t>
            </a:r>
            <a:r>
              <a:rPr lang="en-US" sz="2800" b="1" dirty="0">
                <a:solidFill>
                  <a:srgbClr val="163A5F"/>
                </a:solidFill>
              </a:rPr>
              <a:t> </a:t>
            </a:r>
            <a:r>
              <a:rPr lang="ko-KR" altLang="en-US" sz="2800" b="1" dirty="0">
                <a:solidFill>
                  <a:srgbClr val="163A5F"/>
                </a:solidFill>
              </a:rPr>
              <a:t>및 확장</a:t>
            </a:r>
            <a:endParaRPr lang="en-US" sz="28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39008780-4FBB-413D-B392-6CCE6627B819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33/35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 방향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09728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25880"/>
            <a:ext cx="528066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408176"/>
            <a:ext cx="52075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확장 항목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03620" y="1325880"/>
            <a:ext cx="5280660" cy="438912"/>
          </a:xfrm>
          <a:prstGeom prst="rect">
            <a:avLst/>
          </a:prstGeom>
          <a:solidFill>
            <a:srgbClr val="16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0196" y="1408176"/>
            <a:ext cx="52075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설명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764792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837944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챗봇 기반 추천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03620" y="1764792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7628" y="1837944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취향 입력을 통한 대화형 추천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350008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423160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개인화 추천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03620" y="2350008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7628" y="2423160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회원 정보 또는 이용 기록 기반 추천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2935224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008376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위치 기반 추천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03620" y="2935224"/>
            <a:ext cx="5280660" cy="585216"/>
          </a:xfrm>
          <a:prstGeom prst="rect">
            <a:avLst/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7628" y="3008376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GPS 활용 인근 맛집 제안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3520440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593592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250" dirty="0" err="1">
                <a:solidFill>
                  <a:srgbClr val="1F2937"/>
                </a:solidFill>
              </a:rPr>
              <a:t>지역</a:t>
            </a:r>
            <a:r>
              <a:rPr lang="en-US" altLang="ko-KR" sz="1250" dirty="0">
                <a:solidFill>
                  <a:srgbClr val="1F2937"/>
                </a:solidFill>
              </a:rPr>
              <a:t> </a:t>
            </a:r>
            <a:r>
              <a:rPr lang="en-US" altLang="ko-KR" sz="1250" dirty="0" err="1">
                <a:solidFill>
                  <a:srgbClr val="1F2937"/>
                </a:solidFill>
              </a:rPr>
              <a:t>확대</a:t>
            </a:r>
            <a:endParaRPr lang="en-US" altLang="ko-KR" sz="1250" dirty="0"/>
          </a:p>
        </p:txBody>
      </p:sp>
      <p:sp>
        <p:nvSpPr>
          <p:cNvPr id="24" name="Shape 22"/>
          <p:cNvSpPr/>
          <p:nvPr/>
        </p:nvSpPr>
        <p:spPr>
          <a:xfrm>
            <a:off x="6103620" y="3520440"/>
            <a:ext cx="5280660" cy="585216"/>
          </a:xfrm>
          <a:prstGeom prst="rect">
            <a:avLst/>
          </a:prstGeom>
          <a:solidFill>
            <a:srgbClr val="EEF4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7628" y="3593592"/>
            <a:ext cx="5152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250" dirty="0" err="1">
                <a:solidFill>
                  <a:srgbClr val="1F2937"/>
                </a:solidFill>
              </a:rPr>
              <a:t>전주</a:t>
            </a:r>
            <a:r>
              <a:rPr lang="en-US" altLang="ko-KR" sz="1250" dirty="0">
                <a:solidFill>
                  <a:srgbClr val="1F2937"/>
                </a:solidFill>
              </a:rPr>
              <a:t> 외 </a:t>
            </a:r>
            <a:r>
              <a:rPr lang="en-US" altLang="ko-KR" sz="1250" dirty="0" err="1">
                <a:solidFill>
                  <a:srgbClr val="1F2937"/>
                </a:solidFill>
              </a:rPr>
              <a:t>다른</a:t>
            </a:r>
            <a:r>
              <a:rPr lang="en-US" altLang="ko-KR" sz="1250" dirty="0">
                <a:solidFill>
                  <a:srgbClr val="1F2937"/>
                </a:solidFill>
              </a:rPr>
              <a:t> </a:t>
            </a:r>
            <a:r>
              <a:rPr lang="en-US" altLang="ko-KR" sz="1250" dirty="0" err="1">
                <a:solidFill>
                  <a:srgbClr val="1F2937"/>
                </a:solidFill>
              </a:rPr>
              <a:t>지역으로</a:t>
            </a:r>
            <a:r>
              <a:rPr lang="en-US" altLang="ko-KR" sz="1250" dirty="0">
                <a:solidFill>
                  <a:srgbClr val="1F2937"/>
                </a:solidFill>
              </a:rPr>
              <a:t> </a:t>
            </a:r>
            <a:r>
              <a:rPr lang="en-US" altLang="ko-KR" sz="1250" dirty="0" err="1">
                <a:solidFill>
                  <a:srgbClr val="1F2937"/>
                </a:solidFill>
              </a:rPr>
              <a:t>확장</a:t>
            </a:r>
            <a:endParaRPr lang="en-US" altLang="ko-KR" sz="125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F8B1E7F-0245-42B7-A58C-A072780F14B7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34/35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94760" y="2148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감사합니다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94760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E9F7"/>
                </a:solidFill>
              </a:rPr>
              <a:t>Q &amp; 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79476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3FB"/>
                </a:solidFill>
              </a:rPr>
              <a:t>질문 부탁드립니다.</a:t>
            </a:r>
            <a:endParaRPr lang="en-US" sz="16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3C90098-8A1A-4DE4-9CEE-91428E3E977F}"/>
              </a:ext>
            </a:extLst>
          </p:cNvPr>
          <p:cNvSpPr/>
          <p:nvPr/>
        </p:nvSpPr>
        <p:spPr>
          <a:xfrm>
            <a:off x="11384279" y="6400800"/>
            <a:ext cx="47775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850" dirty="0"/>
              <a:t>35/35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2014</Words>
  <Application>Microsoft Office PowerPoint</Application>
  <PresentationFormat>와이드스크린</PresentationFormat>
  <Paragraphs>506</Paragraphs>
  <Slides>34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Pretendard Variable</vt:lpstr>
      <vt:lpstr>나눔고딕</vt:lpstr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리뷰 데이터 기반 전주 계절별 맛집 추천 서비스</dc:title>
  <dc:subject>K-Digital 프로젝트 발표자료</dc:subject>
  <dc:creator>OpenAI</dc:creator>
  <cp:lastModifiedBy>DEV</cp:lastModifiedBy>
  <cp:revision>99</cp:revision>
  <dcterms:created xsi:type="dcterms:W3CDTF">2026-05-12T00:55:58Z</dcterms:created>
  <dcterms:modified xsi:type="dcterms:W3CDTF">2026-05-15T02:57:41Z</dcterms:modified>
</cp:coreProperties>
</file>